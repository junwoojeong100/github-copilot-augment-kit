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28655" y="502920"/>
            <a:ext cx="274320" cy="274320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12703" y="502920"/>
            <a:ext cx="274320" cy="27432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6751" y="502920"/>
            <a:ext cx="274320" cy="2743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20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CUSTOMER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읽기 쉬운 deck을 코드로 생성합니다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3200400"/>
            <a:ext cx="2011680" cy="4572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3832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카드 그리드 · KPI · 타임라인 · 멀티컬러 액센트 시스템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4617720"/>
            <a:ext cx="937260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617720"/>
            <a:ext cx="9372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Azure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6252" y="4617720"/>
            <a:ext cx="2089404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6252" y="4617720"/>
            <a:ext cx="208940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Microsoft Foundry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4617720"/>
            <a:ext cx="1801368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4617720"/>
            <a:ext cx="1801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GitHub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slide-generator 데모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4630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0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2004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한눈에 보는 핵심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34340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숫자로 전달하는 메시지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2194560" cy="91440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E7C86"/>
                </a:solidFill>
                <a:latin typeface="Segoe UI"/>
                <a:ea typeface="Malgun Gothic"/>
                <a:cs typeface="Segoe U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도입 효과를 숫자로 요약합니다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7040880" cy="56692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6126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핵심 메시지는 문장보다 큰 숫자 하나로 각인됩니다.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5532120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5650992"/>
            <a:ext cx="566928" cy="329184"/>
          </a:xfrm>
          <a:prstGeom prst="round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5532120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slide-generator 데모 데이터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609344"/>
            <a:ext cx="248031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1609344"/>
            <a:ext cx="109728" cy="24688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1993392"/>
            <a:ext cx="202311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10개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090672"/>
            <a:ext cx="19316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지원 슬라이드 타입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511296"/>
            <a:ext cx="19316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title·section·bullets·table·cards·kpi·timeline 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8718" y="1609344"/>
            <a:ext cx="248031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58718" y="1609344"/>
            <a:ext cx="109728" cy="24688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9614" y="1993392"/>
            <a:ext cx="202311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4색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7902" y="3090672"/>
            <a:ext cx="19316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액센트 시리즈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7902" y="3511296"/>
            <a:ext cx="19316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blue · gold · teal · purple 자동 순환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9068" y="1609344"/>
            <a:ext cx="248031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59068" y="1609344"/>
            <a:ext cx="109728" cy="2468880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9964" y="1993392"/>
            <a:ext cx="202311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16:9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8252" y="3090672"/>
            <a:ext cx="19316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와이드스크린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8252" y="3511296"/>
            <a:ext cx="19316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발표 표준 비율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9418" y="1609344"/>
            <a:ext cx="248031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59418" y="1609344"/>
            <a:ext cx="109728" cy="24688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0314" y="1993392"/>
            <a:ext cx="202311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0E7C86"/>
                </a:solidFill>
                <a:latin typeface="Segoe UI"/>
                <a:ea typeface="Malgun Gothic"/>
                <a:cs typeface="Segoe UI"/>
              </a:rPr>
              <a:t>1줄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8602" y="3090672"/>
            <a:ext cx="19316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빌드 명령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8602" y="3511296"/>
            <a:ext cx="19316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python slide_builder.py spec.json -o out.pptx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6B4FA1"/>
                </a:solidFill>
                <a:latin typeface="Segoe UI"/>
                <a:ea typeface="Malgun Gothic"/>
                <a:cs typeface="Segoe UI"/>
              </a:rPr>
              <a:t>SERVICE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주요 서비스 매핑 — Azure · AWS · GCP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10881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각 클라우드 공식 문서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609344"/>
          <a:ext cx="10881360" cy="3785616"/>
        </p:xfrm>
        <a:graphic>
          <a:graphicData uri="http://schemas.openxmlformats.org/drawingml/2006/table">
            <a:tbl>
              <a:tblPr bandRow="1"/>
              <a:tblGrid>
                <a:gridCol w="2720340"/>
                <a:gridCol w="2720340"/>
                <a:gridCol w="2720340"/>
                <a:gridCol w="2720340"/>
              </a:tblGrid>
              <a:tr h="630936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Category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Azure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AWS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GCP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</a:tr>
              <a:tr h="630936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Compute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Virtual Machines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EC2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Compute Engine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Serverless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Azure Functions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Lambda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Cloud Functions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</a:tr>
              <a:tr h="630936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Containers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AKS / Container Apps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EKS / Fargate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GKE / Cloud Run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AI Platform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Microsoft Foundry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Bedrock / SageMaker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Vertex AI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</a:tr>
              <a:tr h="630936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Identity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Entra ID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IAM + Cognito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Cloud Identity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Microsoft 차별화 포인트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09344"/>
            <a:ext cx="341376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09344"/>
            <a:ext cx="109728" cy="21351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901952"/>
            <a:ext cx="2810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통합 생태계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" y="2450592"/>
            <a:ext cx="28102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578608"/>
            <a:ext cx="2810256" cy="10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· M365 · GitHub가 Entra ID·보안·데이터로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2168" y="1609344"/>
            <a:ext cx="341376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92168" y="1609344"/>
            <a:ext cx="109728" cy="21351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6216" y="1901952"/>
            <a:ext cx="2810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엔터프라이즈 데이터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76216" y="2450592"/>
            <a:ext cx="28102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6216" y="2578608"/>
            <a:ext cx="2810256" cy="10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Microsoft Graph 기반 M365 데이터 RAG 활용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5968" y="1609344"/>
            <a:ext cx="341376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5968" y="1609344"/>
            <a:ext cx="109728" cy="2135124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0016" y="1901952"/>
            <a:ext cx="2810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개발자 경험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10016" y="2450592"/>
            <a:ext cx="28102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0016" y="2578608"/>
            <a:ext cx="2810256" cy="10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GitHub → Azure 엔드투엔드 SDLC + Copilot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64508"/>
            <a:ext cx="341376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064508"/>
            <a:ext cx="109728" cy="2135124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" y="4357116"/>
            <a:ext cx="2810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Responsible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" y="4905756"/>
            <a:ext cx="28102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5033772"/>
            <a:ext cx="2810256" cy="10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콘텐츠 안전·평가 도구 내장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92168" y="4064508"/>
            <a:ext cx="341376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92168" y="4064508"/>
            <a:ext cx="109728" cy="2135124"/>
          </a:xfrm>
          <a:prstGeom prst="round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6216" y="4357116"/>
            <a:ext cx="2810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하이브리드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6216" y="4905756"/>
            <a:ext cx="28102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6216" y="5033772"/>
            <a:ext cx="2810256" cy="10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Arc로 온프레미스·멀티클라우드 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5968" y="4064508"/>
            <a:ext cx="3413760" cy="21351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25968" y="4064508"/>
            <a:ext cx="109728" cy="21351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0016" y="4357116"/>
            <a:ext cx="2810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거버넌스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0016" y="4905756"/>
            <a:ext cx="28102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0016" y="5033772"/>
            <a:ext cx="2810256" cy="10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Defender · Purview · Sentinel 통합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Microsoft 기준의 안전한 AI 아키텍처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AI = 모델 하나가 아니라 플랫폼·데이터·신원·보안·감사의 결합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532120"/>
            <a:ext cx="10881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5650992"/>
            <a:ext cx="566928" cy="329184"/>
          </a:xfrm>
          <a:prstGeom prst="round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Microsoft Learn (Foundry · AI Search · Entra · Purview)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29968"/>
            <a:ext cx="2468880" cy="246888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0428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신원 통제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43200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Microsoft Entra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사용자·에이전트 ID · 조건부 접근 · 최소 권한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2029968"/>
            <a:ext cx="8138160" cy="71323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4176" y="213969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사용자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505456"/>
            <a:ext cx="7589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Teams · Microsoft 365 Copilot · 사내 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6932" y="2743200"/>
            <a:ext cx="27432" cy="164592"/>
          </a:xfrm>
          <a:prstGeom prst="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01568" y="2907792"/>
            <a:ext cx="8138160" cy="713232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301752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AI 플랫폼 · Microsoft Foundry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3383280"/>
            <a:ext cx="7589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모델 카탈로그 · 에이전트 · 평가 · 모니터링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6932" y="3621024"/>
            <a:ext cx="27432" cy="164592"/>
          </a:xfrm>
          <a:prstGeom prst="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1568" y="3785616"/>
            <a:ext cx="8138160" cy="71323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89534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근거 검색 · Azure AI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4261104"/>
            <a:ext cx="7589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하이브리드 · 벡터 · 시맨틱 RAG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681728"/>
            <a:ext cx="10881360" cy="713232"/>
          </a:xfrm>
          <a:prstGeom prst="roundRect">
            <a:avLst/>
          </a:prstGeom>
          <a:solidFill>
            <a:srgbClr val="16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681728"/>
            <a:ext cx="3108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거버넌스 &amp; 보안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4681728"/>
            <a:ext cx="7223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Microsoft Purview · Defender · GitHub Advanced Security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E7C86"/>
                </a:solidFill>
                <a:latin typeface="Segoe UI"/>
                <a:ea typeface="Malgun Gothic"/>
                <a:cs typeface="Segoe UI"/>
              </a:rPr>
              <a:t>DECISION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고객 의사결정의 핵심 질문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10881360" cy="56692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단일 서비스 비교가 아니라 플랫폼 전략으로 접근합니다.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609344"/>
            <a:ext cx="10881360" cy="836676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1755648"/>
            <a:ext cx="91440" cy="54406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17190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기존 투자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112264"/>
            <a:ext cx="102412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Windows·SQL Server   •   Microsoft 365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592324"/>
            <a:ext cx="10881360" cy="836676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2738628"/>
            <a:ext cx="91440" cy="54406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270205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보안·거버넌스 통합 수준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095244"/>
            <a:ext cx="1024128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Identity   •   데이터 경계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75304"/>
            <a:ext cx="10881360" cy="836676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721608"/>
            <a:ext cx="91440" cy="544068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3575304"/>
            <a:ext cx="10241280" cy="836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GenAI와 개발 생산성 동시 추진 여부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58284"/>
            <a:ext cx="10881360" cy="836676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704588"/>
            <a:ext cx="91440" cy="544068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558284"/>
            <a:ext cx="10241280" cy="8366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워크로드별 TCO·지연시간·마이그레이션 리스크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6B4FA1"/>
                </a:solidFill>
                <a:latin typeface="Segoe UI"/>
                <a:ea typeface="Malgun Gothic"/>
                <a:cs typeface="Segoe UI"/>
              </a:rPr>
              <a:t>WHEN TO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Azure가 강한 시나리오 vs 추가 검토 항목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09344"/>
            <a:ext cx="5257800" cy="4590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09344"/>
            <a:ext cx="5257800" cy="65836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09344"/>
            <a:ext cx="4709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Azure가 특히 강한 경우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50592"/>
            <a:ext cx="4709160" cy="3584448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Microsoft 365·Windows 중심 고객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엔터프라이즈 Identity·보안 통합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OpenAI 기반 GenAI + 개발 생산성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609344"/>
            <a:ext cx="5257800" cy="4590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1928" y="1609344"/>
            <a:ext cx="5257800" cy="658368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609344"/>
            <a:ext cx="4709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추가 검토가 필요한 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50592"/>
            <a:ext cx="4709160" cy="3584448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기존 AWS·GCP 약정·운영 역량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지역별 서비스 가용성·규제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워크로드별 TCO·latency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SECURE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보안을 내재화한 개발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10881360" cy="56692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GitHub Copilot · GitHub Advanced Security · Defender for Cloud를 한 흐름으로 연결합니다.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99232"/>
            <a:ext cx="2377440" cy="100584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999232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코드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999232"/>
            <a:ext cx="457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2999232"/>
            <a:ext cx="2377440" cy="1005840"/>
          </a:xfrm>
          <a:prstGeom prst="round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2999232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999232"/>
            <a:ext cx="457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999232"/>
            <a:ext cx="2377440" cy="1005840"/>
          </a:xfrm>
          <a:prstGeom prst="round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999232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취약점 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999232"/>
            <a:ext cx="457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2999232"/>
            <a:ext cx="2377440" cy="1005840"/>
          </a:xfrm>
          <a:prstGeom prst="round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2999232"/>
            <a:ext cx="2103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운영 반영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도입 로드맵 — Now · Next ·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20240"/>
            <a:ext cx="10515600" cy="3657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" y="171907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190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86584"/>
            <a:ext cx="3413760" cy="3813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23744"/>
            <a:ext cx="295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Now (0~3M)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2"/>
            <a:ext cx="295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Quick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2956560" cy="2578608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Copilot 파일럿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데이터 정비</a:t>
            </a:r>
          </a:p>
        </p:txBody>
      </p:sp>
      <p:sp>
        <p:nvSpPr>
          <p:cNvPr id="16" name="Oval 15"/>
          <p:cNvSpPr/>
          <p:nvPr/>
        </p:nvSpPr>
        <p:spPr>
          <a:xfrm>
            <a:off x="4437888" y="171907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7888" y="17190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2168" y="2386584"/>
            <a:ext cx="3413760" cy="3813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8200" y="2523744"/>
            <a:ext cx="295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Next (3~12M)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200" y="2907792"/>
            <a:ext cx="295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확산·플랫폼화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8200" y="3438144"/>
            <a:ext cx="2956560" cy="2578608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커스텀 AI 앱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랜딩존</a:t>
            </a:r>
          </a:p>
        </p:txBody>
      </p:sp>
      <p:sp>
        <p:nvSpPr>
          <p:cNvPr id="22" name="Oval 21"/>
          <p:cNvSpPr/>
          <p:nvPr/>
        </p:nvSpPr>
        <p:spPr>
          <a:xfrm>
            <a:off x="8171688" y="1719072"/>
            <a:ext cx="438912" cy="438912"/>
          </a:xfrm>
          <a:prstGeom prst="ellipse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1688" y="17190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5968" y="2386584"/>
            <a:ext cx="3413760" cy="3813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523744"/>
            <a:ext cx="295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Later (12M+)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0" y="2907792"/>
            <a:ext cx="295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전환·내재화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0" y="3438144"/>
            <a:ext cx="2956560" cy="2578608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프로세스 AI 재설계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전사 플랫폼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고객 브리핑 — 슬라이드 디자인 데모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spc="20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KEY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600200"/>
            <a:ext cx="914400" cy="54864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클라우드 선택은 단일 서비스 비교가 아니라, 기존 투자·보안 거버넌스·AI 실행력까지 포함한 플랫폼 전략입니다.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Microsoft Foundry · Azure AI · Purview · Entra · Defender · GitHub로 한 번에 설계합니다.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669280"/>
            <a:ext cx="1033272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1033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플랫폼 전략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5669280"/>
            <a:ext cx="1129284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5669280"/>
            <a:ext cx="11292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보안 거버넌스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0732" y="5669280"/>
            <a:ext cx="1033272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0732" y="5669280"/>
            <a:ext cx="1033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AI 실행력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28655" y="502920"/>
            <a:ext cx="274320" cy="274320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12703" y="502920"/>
            <a:ext cx="274320" cy="27432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96751" y="502920"/>
            <a:ext cx="274320" cy="2743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118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Next step: 워크로드별 상세 TCO와 migration roadmap 검토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754880"/>
            <a:ext cx="1033272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54880"/>
            <a:ext cx="1033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TCO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2808" y="4754880"/>
            <a:ext cx="1033272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8" y="4754880"/>
            <a:ext cx="1033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마이그레이션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4754880"/>
            <a:ext cx="745236" cy="420624"/>
          </a:xfrm>
          <a:prstGeom prst="roundRect">
            <a:avLst/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4754880"/>
            <a:ext cx="7452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파일럿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