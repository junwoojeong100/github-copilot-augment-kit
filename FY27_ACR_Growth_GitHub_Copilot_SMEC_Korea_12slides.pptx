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12064"/>
            <a:ext cx="6400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9B4C4"/>
                </a:solidFill>
                <a:latin typeface="Apple SD Gothic Neo"/>
              </a:rPr>
              <a:t>MICROSOFT KOREA SME&amp;C · FY27 FIELD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7680960" cy="2423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FY27 ACR 성장의 교두보는</a:t>
            </a:r>
          </a:p>
          <a:p>
            <a:pPr algn="l">
              <a:lnSpc>
                <a:spcPct val="94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‘Copilot seat’가 아니라</a:t>
            </a:r>
          </a:p>
          <a:p>
            <a:pPr algn="l">
              <a:lnSpc>
                <a:spcPct val="94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‘Azure workload 전환’입니다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22191"/>
            <a:ext cx="694944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7DEE8"/>
                </a:solidFill>
                <a:latin typeface="Apple SD Gothic Neo"/>
              </a:rPr>
              <a:t>GitHub Copilot을 활용한 Sales · Technical · Partner 실행안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64608"/>
            <a:ext cx="2057400" cy="6217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COPILOT</a:t>
            </a:r>
          </a:p>
        </p:txBody>
      </p:sp>
      <p:sp>
        <p:nvSpPr>
          <p:cNvPr id="6" name="Chevron 5"/>
          <p:cNvSpPr/>
          <p:nvPr/>
        </p:nvSpPr>
        <p:spPr>
          <a:xfrm>
            <a:off x="2871215" y="4956048"/>
            <a:ext cx="256032" cy="429768"/>
          </a:xfrm>
          <a:prstGeom prst="chevron">
            <a:avLst/>
          </a:prstGeom>
          <a:solidFill>
            <a:srgbClr val="535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4864608"/>
            <a:ext cx="2057400" cy="621792"/>
          </a:xfrm>
          <a:prstGeom prst="rect">
            <a:avLst/>
          </a:prstGeom>
          <a:solidFill>
            <a:srgbClr val="694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CODE</a:t>
            </a:r>
          </a:p>
        </p:txBody>
      </p:sp>
      <p:sp>
        <p:nvSpPr>
          <p:cNvPr id="8" name="Chevron 7"/>
          <p:cNvSpPr/>
          <p:nvPr/>
        </p:nvSpPr>
        <p:spPr>
          <a:xfrm>
            <a:off x="5294376" y="4956048"/>
            <a:ext cx="256032" cy="429768"/>
          </a:xfrm>
          <a:prstGeom prst="chevron">
            <a:avLst/>
          </a:prstGeom>
          <a:solidFill>
            <a:srgbClr val="535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4864608"/>
            <a:ext cx="2057400" cy="6217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CLOUD</a:t>
            </a:r>
          </a:p>
        </p:txBody>
      </p:sp>
      <p:sp>
        <p:nvSpPr>
          <p:cNvPr id="10" name="Chevron 9"/>
          <p:cNvSpPr/>
          <p:nvPr/>
        </p:nvSpPr>
        <p:spPr>
          <a:xfrm>
            <a:off x="7717536" y="4956048"/>
            <a:ext cx="256032" cy="429768"/>
          </a:xfrm>
          <a:prstGeom prst="chevron">
            <a:avLst/>
          </a:prstGeom>
          <a:solidFill>
            <a:srgbClr val="535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4864608"/>
            <a:ext cx="2057400" cy="62179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327648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9B4C4"/>
                </a:solidFill>
                <a:latin typeface="Apple SD Gothic Neo"/>
              </a:rPr>
              <a:t>2026.07.23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EXECUTIVE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한 가지 실행 모델로 정렬합니다: Land → Expand → Convert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554480"/>
            <a:ext cx="3246120" cy="1993392"/>
          </a:xfrm>
          <a:prstGeom prst="rect">
            <a:avLst/>
          </a:prstGeom>
          <a:solidFill>
            <a:srgbClr val="F1EBFC"/>
          </a:solidFill>
          <a:ln w="1524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09728"/>
          <a:lstStyle/>
          <a:p>
            <a:pPr algn="ctr"/>
            <a:r>
              <a:rPr sz="1000" b="1">
                <a:solidFill>
                  <a:srgbClr val="8250DF"/>
                </a:solidFill>
                <a:latin typeface="Apple SD Gothic Neo"/>
              </a:rPr>
              <a:t>01 · LAND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172033"/>
                </a:solidFill>
                <a:latin typeface="Apple SD Gothic Neo"/>
              </a:rPr>
              <a:t>Copilot을 개발 workflow에 안착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산출물: 활성 사용자·반복 사용·가치 baseline</a:t>
            </a:r>
          </a:p>
        </p:txBody>
      </p:sp>
      <p:sp>
        <p:nvSpPr>
          <p:cNvPr id="6" name="Chevron 5"/>
          <p:cNvSpPr/>
          <p:nvPr/>
        </p:nvSpPr>
        <p:spPr>
          <a:xfrm>
            <a:off x="4078224" y="2304288"/>
            <a:ext cx="347472" cy="502920"/>
          </a:xfrm>
          <a:prstGeom prst="chevron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53712" y="1554480"/>
            <a:ext cx="3246120" cy="1993392"/>
          </a:xfrm>
          <a:prstGeom prst="rect">
            <a:avLst/>
          </a:prstGeom>
          <a:solidFill>
            <a:srgbClr val="E8F3FB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09728"/>
          <a:lstStyle/>
          <a:p>
            <a:pPr algn="ctr"/>
            <a:r>
              <a:rPr sz="1000" b="1">
                <a:solidFill>
                  <a:srgbClr val="0078D4"/>
                </a:solidFill>
                <a:latin typeface="Apple SD Gothic Neo"/>
              </a:rPr>
              <a:t>02 · EXPAND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172033"/>
                </a:solidFill>
                <a:latin typeface="Apple SD Gothic Neo"/>
              </a:rPr>
              <a:t>SDLC 전반으로 사용 범위 확대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산출물: PR·build·review·agent 활용 증가</a:t>
            </a:r>
          </a:p>
        </p:txBody>
      </p:sp>
      <p:sp>
        <p:nvSpPr>
          <p:cNvPr id="8" name="Chevron 7"/>
          <p:cNvSpPr/>
          <p:nvPr/>
        </p:nvSpPr>
        <p:spPr>
          <a:xfrm>
            <a:off x="7936992" y="2304288"/>
            <a:ext cx="347472" cy="502920"/>
          </a:xfrm>
          <a:prstGeom prst="chevron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554480"/>
            <a:ext cx="3072384" cy="1993392"/>
          </a:xfrm>
          <a:prstGeom prst="rect">
            <a:avLst/>
          </a:prstGeom>
          <a:solidFill>
            <a:srgbClr val="E5F6F6"/>
          </a:solidFill>
          <a:ln w="152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09728"/>
          <a:lstStyle/>
          <a:p>
            <a:pPr algn="ctr"/>
            <a:r>
              <a:rPr sz="1000" b="1">
                <a:solidFill>
                  <a:srgbClr val="008C95"/>
                </a:solidFill>
                <a:latin typeface="Apple SD Gothic Neo"/>
              </a:rPr>
              <a:t>03 · CONVERT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172033"/>
                </a:solidFill>
                <a:latin typeface="Apple SD Gothic Neo"/>
              </a:rPr>
              <a:t>Azure production workload로 전환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산출물: 배포·운영·확장 가능한 소비 workload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977639"/>
            <a:ext cx="10789920" cy="13898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164592"/>
          <a:lstStyle/>
          <a:p>
            <a:pPr algn="ctr"/>
            <a:r>
              <a:rPr sz="1200" b="1">
                <a:solidFill>
                  <a:srgbClr val="A9B4C4"/>
                </a:solidFill>
                <a:latin typeface="Apple SD Gothic Neo"/>
              </a:rPr>
              <a:t>첫 90일 실행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우선 계정 cohort 선정 → Account Pod 가동 → 3개 packaged offer 실행 → production 전환을 scorecard로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원칙: Copilot adoption과 Azure workload conversion을 같은 account plan에서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생산성 증거·Azure migration 기능·측정 체계가 동시에 준비됐습니다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2971800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250DF"/>
                </a:solidFill>
                <a:latin typeface="Apple SD Gothic Neo"/>
              </a:rPr>
              <a:t>+8.69%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7180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033"/>
                </a:solidFill>
                <a:latin typeface="Apple SD Gothic Neo"/>
              </a:rPr>
              <a:t>PR per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Accenture enterprise study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PR merge rate +15% · successful builds +84%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572768"/>
            <a:ext cx="2971800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78D4"/>
                </a:solidFill>
                <a:latin typeface="Apple SD Gothic Neo"/>
              </a:rPr>
              <a:t>1,000h/day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194560"/>
            <a:ext cx="297180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033"/>
                </a:solidFill>
                <a:latin typeface="Apple SD Gothic Neo"/>
              </a:rPr>
              <a:t>개발 시간 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651760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Trimble customer story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개발자당 평균 30분/일 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572768"/>
            <a:ext cx="3474720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8C95"/>
                </a:solidFill>
                <a:latin typeface="Apple SD Gothic Neo"/>
              </a:rPr>
              <a:t>GA +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94560"/>
            <a:ext cx="347472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033"/>
                </a:solidFill>
                <a:latin typeface="Apple SD Gothic Neo"/>
              </a:rPr>
              <a:t>Azure modernization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51760"/>
            <a:ext cx="3474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IDE migration: .NET·Java GA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Modernization agent planning: Public Preview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96512"/>
            <a:ext cx="10744200" cy="1152144"/>
          </a:xfrm>
          <a:prstGeom prst="rect">
            <a:avLst/>
          </a:prstGeom>
          <a:solidFill>
            <a:srgbClr val="F3F6F9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219456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2026-07-22 · Copilot impact dashboard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72033"/>
                </a:solidFill>
                <a:latin typeface="Apple SD Gothic Neo"/>
              </a:rPr>
              <a:t>Passive → Code-first → Agent-first → Multi-agent cohort별 PR throughput·merge velocity를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Apple SD Gothic Neo"/>
              </a:rPr>
              <a:t>Sources: GitHub–Accenture research (2024) · GitHub Customer Story: Trimble · Microsoft Learn (updated 2026-06-12) · GitHub Changelog (2026-07-22)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고객 성과 수치는 개별 사례이며 모든 고객에 동일하게 적용되는 benchmark가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GROWTH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ACR은 Copilot 사용량이 아니라 production workload가 생길 때 발생합니다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664208"/>
            <a:ext cx="1901952" cy="1426464"/>
          </a:xfrm>
          <a:prstGeom prst="rect">
            <a:avLst/>
          </a:prstGeom>
          <a:solidFill>
            <a:srgbClr val="F1EBFC"/>
          </a:solidFill>
          <a:ln w="1397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2033"/>
                </a:solidFill>
                <a:latin typeface="Apple SD Gothic Neo"/>
              </a:rPr>
              <a:t>ADOPT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72033"/>
                </a:solidFill>
                <a:latin typeface="Apple SD Gothic Neo"/>
              </a:rPr>
              <a:t>활성 사용자
반복 사용</a:t>
            </a:r>
          </a:p>
        </p:txBody>
      </p:sp>
      <p:sp>
        <p:nvSpPr>
          <p:cNvPr id="6" name="Chevron 5"/>
          <p:cNvSpPr/>
          <p:nvPr/>
        </p:nvSpPr>
        <p:spPr>
          <a:xfrm>
            <a:off x="2624328" y="2139696"/>
            <a:ext cx="237744" cy="420624"/>
          </a:xfrm>
          <a:prstGeom prst="chevron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4368" y="1664208"/>
            <a:ext cx="1901952" cy="1426464"/>
          </a:xfrm>
          <a:prstGeom prst="rect">
            <a:avLst/>
          </a:prstGeom>
          <a:solidFill>
            <a:srgbClr val="F1EBFC"/>
          </a:solidFill>
          <a:ln w="13970">
            <a:solidFill>
              <a:srgbClr val="593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2033"/>
                </a:solidFill>
                <a:latin typeface="Apple SD Gothic Neo"/>
              </a:rPr>
              <a:t>ACCELERATE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72033"/>
                </a:solidFill>
                <a:latin typeface="Apple SD Gothic Neo"/>
              </a:rPr>
              <a:t>PR·build
처리량 증가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2139696"/>
            <a:ext cx="237744" cy="420624"/>
          </a:xfrm>
          <a:prstGeom prst="chevron">
            <a:avLst/>
          </a:prstGeom>
          <a:solidFill>
            <a:srgbClr val="593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664208"/>
            <a:ext cx="1901952" cy="1426464"/>
          </a:xfrm>
          <a:prstGeom prst="rect">
            <a:avLst/>
          </a:prstGeom>
          <a:solidFill>
            <a:srgbClr val="E8F3FB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2033"/>
                </a:solidFill>
                <a:latin typeface="Apple SD Gothic Neo"/>
              </a:rPr>
              <a:t>MODERNIZE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72033"/>
                </a:solidFill>
                <a:latin typeface="Apple SD Gothic Neo"/>
              </a:rPr>
              <a:t>legacy backlog
Azure-ready 전환</a:t>
            </a:r>
          </a:p>
        </p:txBody>
      </p:sp>
      <p:sp>
        <p:nvSpPr>
          <p:cNvPr id="10" name="Chevron 9"/>
          <p:cNvSpPr/>
          <p:nvPr/>
        </p:nvSpPr>
        <p:spPr>
          <a:xfrm>
            <a:off x="7159752" y="2139696"/>
            <a:ext cx="237744" cy="420624"/>
          </a:xfrm>
          <a:prstGeom prst="chevron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9792" y="1664208"/>
            <a:ext cx="1901952" cy="1426464"/>
          </a:xfrm>
          <a:prstGeom prst="rect">
            <a:avLst/>
          </a:prstGeom>
          <a:solidFill>
            <a:srgbClr val="E8F3FB"/>
          </a:solidFill>
          <a:ln w="1397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2033"/>
                </a:solidFill>
                <a:latin typeface="Apple SD Gothic Neo"/>
              </a:rPr>
              <a:t>DEPLOY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72033"/>
                </a:solidFill>
                <a:latin typeface="Apple SD Gothic Neo"/>
              </a:rPr>
              <a:t>production
Azure 배포</a:t>
            </a:r>
          </a:p>
        </p:txBody>
      </p:sp>
      <p:sp>
        <p:nvSpPr>
          <p:cNvPr id="12" name="Chevron 11"/>
          <p:cNvSpPr/>
          <p:nvPr/>
        </p:nvSpPr>
        <p:spPr>
          <a:xfrm>
            <a:off x="9427463" y="2139696"/>
            <a:ext cx="237744" cy="420624"/>
          </a:xfrm>
          <a:prstGeom prst="chevron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47504" y="1664208"/>
            <a:ext cx="1901952" cy="1426464"/>
          </a:xfrm>
          <a:prstGeom prst="rect">
            <a:avLst/>
          </a:prstGeom>
          <a:solidFill>
            <a:srgbClr val="E5F6F6"/>
          </a:solidFill>
          <a:ln w="139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72033"/>
                </a:solidFill>
                <a:latin typeface="Apple SD Gothic Neo"/>
              </a:rPr>
              <a:t>OPERATE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72033"/>
                </a:solidFill>
                <a:latin typeface="Apple SD Gothic Neo"/>
              </a:rPr>
              <a:t>관찰·보안
scale-out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051560" y="3310128"/>
            <a:ext cx="9866376" cy="0"/>
          </a:xfrm>
          <a:prstGeom prst="line">
            <a:avLst/>
          </a:prstGeom>
          <a:ln w="254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51560" y="3099816"/>
            <a:ext cx="0" cy="210312"/>
          </a:xfrm>
          <a:prstGeom prst="line">
            <a:avLst/>
          </a:prstGeom>
          <a:ln w="254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917936" y="3099816"/>
            <a:ext cx="0" cy="210312"/>
          </a:xfrm>
          <a:prstGeom prst="line">
            <a:avLst/>
          </a:prstGeom>
          <a:ln w="254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3227832"/>
            <a:ext cx="5897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8C95"/>
                </a:solidFill>
                <a:latin typeface="Apple SD Gothic Neo"/>
              </a:rPr>
              <a:t>더 많은 workload 학습 → 다음 modernization pattern 재사용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069080"/>
            <a:ext cx="10762488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219456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핵심 통제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</a:rPr>
              <a:t>Copilot seat·usage만으로 ACR을 귀속하지 않습니다. Account ID, repo, pilot, Azure subscription/workload tag를 연결해야 전환 효과를 측정할 수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전략 가설: Copilot은 workload creation accelerator이며, Azure attach motion이 없으면 ACR로 전환되지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ACCOUNT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‘개발 밀도 × 전환 사건 × Azure 적합성’으로 우선 계정을 좁힙니다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250DF"/>
                </a:solidFill>
                <a:latin typeface="Apple SD Gothic Neo"/>
              </a:rPr>
              <a:t>높은 개발 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44752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78D4"/>
                </a:solidFill>
                <a:latin typeface="Apple SD Gothic Neo"/>
              </a:rPr>
              <a:t>Azure 전환 적합성 높음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5074920" cy="1536192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A · LEGACY MODERNIZER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72033"/>
                </a:solidFill>
                <a:latin typeface="Apple SD Gothic Neo"/>
              </a:rPr>
              <a:t>Java/.NET legacy backlog
EOS·보안·데이터센터 exit 사건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6752" y="1719072"/>
            <a:ext cx="5257800" cy="1536192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B · DIGITAL PRODUCT BUILDER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72033"/>
                </a:solidFill>
                <a:latin typeface="Apple SD Gothic Neo"/>
              </a:rPr>
              <a:t>신규 서비스 release 압박
GitHub Actions·ACA/AKS 적합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56432"/>
            <a:ext cx="5074920" cy="1536192"/>
          </a:xfrm>
          <a:prstGeom prst="rect">
            <a:avLst/>
          </a:prstGeom>
          <a:solidFill>
            <a:srgbClr val="F3F6F9"/>
          </a:solidFill>
          <a:ln w="12700">
            <a:solidFill>
              <a:srgbClr val="5B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C · COPILOT ADOPTION ONLY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72033"/>
                </a:solidFill>
                <a:latin typeface="Apple SD Gothic Neo"/>
              </a:rPr>
              <a:t>seat 관심은 높지만 production sponsor 부족
enablement 후 전환 사건 대기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3456432"/>
            <a:ext cx="5257800" cy="1536192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D · AI APP BUILDER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72033"/>
                </a:solidFill>
                <a:latin typeface="Apple SD Gothic Neo"/>
              </a:rPr>
              <a:t>AI 서비스 출시·agent 요구
Foundry + app platform attach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28523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6472"/>
                </a:solidFill>
                <a:latin typeface="Apple SD Gothic Neo"/>
              </a:rPr>
              <a:t>Scoring: developer/repo density · modernization backlog · executive trigger · partner delivery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권고: A·B·D archetype을 우선 cohort로 선정하고 C는 adoption nurture로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SALES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Sales motion은 ‘기능 설명’보다 ‘사건→가치→production 약속’ 순서입니다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72768"/>
            <a:ext cx="2432304" cy="3236976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64592"/>
          <a:lstStyle/>
          <a:p>
            <a:pPr algn="ctr"/>
            <a:r>
              <a:rPr sz="1100" b="1">
                <a:solidFill>
                  <a:srgbClr val="8250DF"/>
                </a:solidFill>
                <a:latin typeface="Apple SD Gothic Neo"/>
              </a:rPr>
              <a:t>01  DISCOVER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72033"/>
                </a:solidFill>
                <a:latin typeface="Apple SD Gothic Neo"/>
              </a:rPr>
              <a:t>무슨 business event가
개발 backlog를 움직이는가?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6472"/>
                </a:solidFill>
                <a:latin typeface="Apple SD Gothic Neo"/>
              </a:rPr>
              <a:t>EXIT · Account hypothesis</a:t>
            </a:r>
          </a:p>
        </p:txBody>
      </p:sp>
      <p:sp>
        <p:nvSpPr>
          <p:cNvPr id="6" name="Chevron 5"/>
          <p:cNvSpPr/>
          <p:nvPr/>
        </p:nvSpPr>
        <p:spPr>
          <a:xfrm>
            <a:off x="3182112" y="2779776"/>
            <a:ext cx="201168" cy="384048"/>
          </a:xfrm>
          <a:prstGeom prst="chevron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56432" y="1572768"/>
            <a:ext cx="2432304" cy="3236976"/>
          </a:xfrm>
          <a:prstGeom prst="rect">
            <a:avLst/>
          </a:prstGeom>
          <a:solidFill>
            <a:srgbClr val="F1EBFC"/>
          </a:solidFill>
          <a:ln w="12700">
            <a:solidFill>
              <a:srgbClr val="593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64592"/>
          <a:lstStyle/>
          <a:p>
            <a:pPr algn="ctr"/>
            <a:r>
              <a:rPr sz="1100" b="1">
                <a:solidFill>
                  <a:srgbClr val="5932A6"/>
                </a:solidFill>
                <a:latin typeface="Apple SD Gothic Neo"/>
              </a:rPr>
              <a:t>02  VALUE PROOF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72033"/>
                </a:solidFill>
                <a:latin typeface="Apple SD Gothic Neo"/>
              </a:rPr>
              <a:t>어떤 metric을
6주 안에 바꿀 것인가?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6472"/>
                </a:solidFill>
                <a:latin typeface="Apple SD Gothic Neo"/>
              </a:rPr>
              <a:t>EXIT · Measured pilot</a:t>
            </a:r>
          </a:p>
        </p:txBody>
      </p:sp>
      <p:sp>
        <p:nvSpPr>
          <p:cNvPr id="8" name="Chevron 7"/>
          <p:cNvSpPr/>
          <p:nvPr/>
        </p:nvSpPr>
        <p:spPr>
          <a:xfrm>
            <a:off x="5925312" y="2779776"/>
            <a:ext cx="201168" cy="384048"/>
          </a:xfrm>
          <a:prstGeom prst="chevron">
            <a:avLst/>
          </a:prstGeom>
          <a:solidFill>
            <a:srgbClr val="593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572768"/>
            <a:ext cx="2432304" cy="3236976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64592"/>
          <a:lstStyle/>
          <a:p>
            <a:pPr algn="ctr"/>
            <a:r>
              <a:rPr sz="1100" b="1">
                <a:solidFill>
                  <a:srgbClr val="0078D4"/>
                </a:solidFill>
                <a:latin typeface="Apple SD Gothic Neo"/>
              </a:rPr>
              <a:t>03  COMMIT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72033"/>
                </a:solidFill>
                <a:latin typeface="Apple SD Gothic Neo"/>
              </a:rPr>
              <a:t>어떤 Azure service에
production 배포할 것인가?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6472"/>
                </a:solidFill>
                <a:latin typeface="Apple SD Gothic Neo"/>
              </a:rPr>
              <a:t>EXIT · Architecture commitment</a:t>
            </a:r>
          </a:p>
        </p:txBody>
      </p:sp>
      <p:sp>
        <p:nvSpPr>
          <p:cNvPr id="10" name="Chevron 9"/>
          <p:cNvSpPr/>
          <p:nvPr/>
        </p:nvSpPr>
        <p:spPr>
          <a:xfrm>
            <a:off x="8668512" y="2779776"/>
            <a:ext cx="201168" cy="384048"/>
          </a:xfrm>
          <a:prstGeom prst="chevron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572768"/>
            <a:ext cx="2432304" cy="3236976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64592"/>
          <a:lstStyle/>
          <a:p>
            <a:pPr algn="ctr"/>
            <a:r>
              <a:rPr sz="1100" b="1">
                <a:solidFill>
                  <a:srgbClr val="008C95"/>
                </a:solidFill>
                <a:latin typeface="Apple SD Gothic Neo"/>
              </a:rPr>
              <a:t>04  EXPAND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72033"/>
                </a:solidFill>
                <a:latin typeface="Apple SD Gothic Neo"/>
              </a:rPr>
              <a:t>어떤 repo·팀·workload로
복제할 것인가?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6472"/>
                </a:solidFill>
                <a:latin typeface="Apple SD Gothic Neo"/>
              </a:rPr>
              <a:t>EXIT · Expansion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Seller rule: pilot success 조건에 ‘Azure production target과 owner’가 없으면 시작하지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TECHNICAL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Technical motion은 IDE demo가 아니라 ‘repo에서 Azure까지’ 보여줘야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536192"/>
            <a:ext cx="1901952" cy="1234440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ASSESS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Repo·dependency
modernization plan</a:t>
            </a:r>
          </a:p>
        </p:txBody>
      </p:sp>
      <p:sp>
        <p:nvSpPr>
          <p:cNvPr id="6" name="Chevron 5"/>
          <p:cNvSpPr/>
          <p:nvPr/>
        </p:nvSpPr>
        <p:spPr>
          <a:xfrm>
            <a:off x="2615184" y="1920240"/>
            <a:ext cx="246888" cy="393192"/>
          </a:xfrm>
          <a:prstGeom prst="chevron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4368" y="1536192"/>
            <a:ext cx="1901952" cy="1234440"/>
          </a:xfrm>
          <a:prstGeom prst="rect">
            <a:avLst/>
          </a:prstGeom>
          <a:solidFill>
            <a:srgbClr val="F1EBFC"/>
          </a:solidFill>
          <a:ln w="12700">
            <a:solidFill>
              <a:srgbClr val="593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BUILD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Copilot coding agent
custom instructions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2896" y="1920240"/>
            <a:ext cx="246888" cy="393192"/>
          </a:xfrm>
          <a:prstGeom prst="chevron">
            <a:avLst/>
          </a:prstGeom>
          <a:solidFill>
            <a:srgbClr val="593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536192"/>
            <a:ext cx="1901952" cy="1234440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SECURE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Code review·GHAS
Actions validation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7150608" y="1920240"/>
            <a:ext cx="246888" cy="393192"/>
          </a:xfrm>
          <a:prstGeom prst="chevron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9792" y="1536192"/>
            <a:ext cx="1901952" cy="1234440"/>
          </a:xfrm>
          <a:prstGeom prst="rect">
            <a:avLst/>
          </a:prstGeom>
          <a:solidFill>
            <a:srgbClr val="E8F3FB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DEPLOY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IaC·CI/CD
ACA / AKS / App Service</a:t>
            </a:r>
          </a:p>
        </p:txBody>
      </p:sp>
      <p:sp>
        <p:nvSpPr>
          <p:cNvPr id="12" name="Chevron 11"/>
          <p:cNvSpPr/>
          <p:nvPr/>
        </p:nvSpPr>
        <p:spPr>
          <a:xfrm>
            <a:off x="9418320" y="1920240"/>
            <a:ext cx="246888" cy="393192"/>
          </a:xfrm>
          <a:prstGeom prst="chevron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47504" y="1536192"/>
            <a:ext cx="1901952" cy="1234440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OPERATE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App Insights·Defender
scale &amp; optimize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273552"/>
            <a:ext cx="10753344" cy="13258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Apple SD Gothic Neo"/>
              </a:rPr>
              <a:t>AZURE ATTACH SURFACE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Apple SD Gothic Neo"/>
              </a:rPr>
              <a:t>Compute: Container Apps · AKS · App Service   |   Data: Azure SQL · Cosmos DB   |   AI: Microsoft Foundry   |   Control: Entra · Key Vault · Defender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956048"/>
            <a:ext cx="5074920" cy="530352"/>
          </a:xfrm>
          <a:prstGeom prst="rect">
            <a:avLst/>
          </a:prstGeom>
          <a:solidFill>
            <a:srgbClr val="E8F3FB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005A9E"/>
                </a:solidFill>
                <a:latin typeface="Apple SD Gothic Neo"/>
              </a:rPr>
              <a:t>GA · IDE upgrade + .NET/Java migration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4956048"/>
            <a:ext cx="5193792" cy="530352"/>
          </a:xfrm>
          <a:prstGeom prst="rect">
            <a:avLst/>
          </a:prstGeom>
          <a:solidFill>
            <a:srgbClr val="F1EBFC"/>
          </a:solidFill>
          <a:ln w="1016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5932A6"/>
                </a:solidFill>
                <a:latin typeface="Apple SD Gothic Neo"/>
              </a:rPr>
              <a:t>PREVIEW · Modernization agent assessment/planning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Apple SD Gothic Neo"/>
              </a:rPr>
              <a:t>Sources: Microsoft Learn — GitHub Copilot modernization (updated 2026-06-12) · GitHub Docs — Copilot code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PACKAGED OFFERS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세 가지 packaged offer가 field 실행을 반복 가능하게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063240" cy="2057400"/>
          </a:xfrm>
          <a:prstGeom prst="rect">
            <a:avLst/>
          </a:prstGeom>
          <a:solidFill>
            <a:srgbClr val="F1EBFC"/>
          </a:solidFill>
          <a:ln w="1524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/>
            <a:r>
              <a:rPr sz="2600" b="1">
                <a:solidFill>
                  <a:srgbClr val="8250DF"/>
                </a:solidFill>
                <a:latin typeface="Apple SD Gothic Neo"/>
              </a:rPr>
              <a:t>2주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COPILOT ADOPTION SPRINT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사용 baseline · training · policy
Outcome: active cohort + metric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87368" y="2148840"/>
            <a:ext cx="3063240" cy="2651760"/>
          </a:xfrm>
          <a:prstGeom prst="rect">
            <a:avLst/>
          </a:prstGeom>
          <a:solidFill>
            <a:srgbClr val="E8F3FB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/>
            <a:r>
              <a:rPr sz="2600" b="1">
                <a:solidFill>
                  <a:srgbClr val="0078D4"/>
                </a:solidFill>
                <a:latin typeface="Apple SD Gothic Neo"/>
              </a:rPr>
              <a:t>6주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APP MODERNIZATION PILOT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assessment · transform · validate · deploy
Attach: ACA/AKS/App Service +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79792" y="1536192"/>
            <a:ext cx="3063240" cy="3264408"/>
          </a:xfrm>
          <a:prstGeom prst="rect">
            <a:avLst/>
          </a:prstGeom>
          <a:solidFill>
            <a:srgbClr val="E5F6F6"/>
          </a:solidFill>
          <a:ln w="152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/>
            <a:r>
              <a:rPr sz="2600" b="1">
                <a:solidFill>
                  <a:srgbClr val="008C95"/>
                </a:solidFill>
                <a:latin typeface="Apple SD Gothic Neo"/>
              </a:rPr>
              <a:t>8주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AI APP FACTORY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5B6472"/>
                </a:solidFill>
                <a:latin typeface="Apple SD Gothic Neo"/>
              </a:rPr>
              <a:t>agent app · eval · secure deploy · observe
Attach: Foundry + app platform +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138928"/>
            <a:ext cx="9601200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5294376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250DF"/>
                </a:solidFill>
                <a:latin typeface="Apple SD Gothic Neo"/>
              </a:rPr>
              <a:t>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5294376"/>
            <a:ext cx="24688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8D4"/>
                </a:solidFill>
                <a:latin typeface="Apple SD Gothic Neo"/>
              </a:rPr>
              <a:t>Production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5294376"/>
            <a:ext cx="20574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8C95"/>
                </a:solidFill>
                <a:latin typeface="Apple SD Gothic Neo"/>
              </a:rPr>
              <a:t>Scale &amp;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각 offer의 종료 기준은 다음 단계의 budget·architecture·owner 약속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PARTNER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Partner는 lead 채널이 아니라 반복 배포 가능한 delivery capacity입니다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09</a:t>
            </a:r>
          </a:p>
        </p:txBody>
      </p:sp>
      <p:sp>
        <p:nvSpPr>
          <p:cNvPr id="5" name="Oval 4"/>
          <p:cNvSpPr/>
          <p:nvPr/>
        </p:nvSpPr>
        <p:spPr>
          <a:xfrm>
            <a:off x="4443984" y="2057400"/>
            <a:ext cx="3246120" cy="182880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FIELD FACTORY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pple SD Gothic Neo"/>
              </a:rPr>
              <a:t>Sales + Technical +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2971800" cy="1143000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TRAIN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Copilot adoption·Azure modernization
role-based enablement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6488" y="1536192"/>
            <a:ext cx="2971800" cy="1143000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CO-SELL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Account hypothesis·industry story
joint workshop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160520"/>
            <a:ext cx="2971800" cy="1143000"/>
          </a:xfrm>
          <a:prstGeom prst="rect">
            <a:avLst/>
          </a:prstGeom>
          <a:solidFill>
            <a:srgbClr val="E8F3FB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DELIVER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Packaged pilot·landing zone
production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76488" y="4160520"/>
            <a:ext cx="2971800" cy="1143000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REUSE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Playbook·skill·pipeline·managed ops
pattern library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331720"/>
            <a:ext cx="557784" cy="365760"/>
          </a:xfrm>
          <a:prstGeom prst="line">
            <a:avLst/>
          </a:prstGeom>
          <a:ln w="22860">
            <a:solidFill>
              <a:srgbClr val="8250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690104" y="2331720"/>
            <a:ext cx="576071" cy="365760"/>
          </a:xfrm>
          <a:prstGeom prst="line">
            <a:avLst/>
          </a:prstGeom>
          <a:ln w="2286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86200" y="3319272"/>
            <a:ext cx="557784" cy="1252728"/>
          </a:xfrm>
          <a:prstGeom prst="line">
            <a:avLst/>
          </a:prstGeom>
          <a:ln w="22860">
            <a:solidFill>
              <a:srgbClr val="005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90104" y="3319272"/>
            <a:ext cx="576071" cy="1252728"/>
          </a:xfrm>
          <a:prstGeom prst="line">
            <a:avLst/>
          </a:prstGeom>
          <a:ln w="2286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6473952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Apple SD Gothic Neo"/>
              </a:rPr>
              <a:t>Scale assets: industry discovery guide · modernization playbook · Azure landing pattern · managed operations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Sales·Technical·Partner가 하나의 account pod와 weekly rhythm으로 움직입니다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2148840" cy="530352"/>
          </a:xfrm>
          <a:prstGeom prst="rect">
            <a:avLst/>
          </a:prstGeom>
          <a:solidFill>
            <a:srgbClr val="0D111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62072" y="1481328"/>
            <a:ext cx="2926080" cy="530352"/>
          </a:xfrm>
          <a:prstGeom prst="rect">
            <a:avLst/>
          </a:prstGeom>
          <a:solidFill>
            <a:srgbClr val="0D111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WEEKLY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88152" y="1481328"/>
            <a:ext cx="2926080" cy="530352"/>
          </a:xfrm>
          <a:prstGeom prst="rect">
            <a:avLst/>
          </a:prstGeom>
          <a:solidFill>
            <a:srgbClr val="0D111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MONTHLY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4232" y="1481328"/>
            <a:ext cx="2926080" cy="530352"/>
          </a:xfrm>
          <a:prstGeom prst="rect">
            <a:avLst/>
          </a:prstGeom>
          <a:solidFill>
            <a:srgbClr val="0D111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QUARTERLY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11680"/>
            <a:ext cx="2148840" cy="841248"/>
          </a:xfrm>
          <a:prstGeom prst="rect">
            <a:avLst/>
          </a:prstGeom>
          <a:solidFill>
            <a:srgbClr val="F1EBFC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ACCOUNT EXECUTIVE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2072" y="2011680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event·sponsor·next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88152" y="2011680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pipeline / commit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4232" y="2011680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segment &amp;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852928"/>
            <a:ext cx="2148840" cy="841248"/>
          </a:xfrm>
          <a:prstGeom prst="rect">
            <a:avLst/>
          </a:prstGeom>
          <a:solidFill>
            <a:srgbClr val="E8F3FB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TECHNICAL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2072" y="2852928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pilot blocker·architecture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88152" y="2852928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workload conversion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4232" y="2852928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asset standardization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694176"/>
            <a:ext cx="2148840" cy="841248"/>
          </a:xfrm>
          <a:prstGeom prst="rect">
            <a:avLst/>
          </a:prstGeom>
          <a:solidFill>
            <a:srgbClr val="F3F6F9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GITHUB SPECIALIST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2072" y="3694176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adoption·agent usage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88152" y="3694176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cohort depth·enablement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4232" y="3694176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product / 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35424"/>
            <a:ext cx="2148840" cy="841248"/>
          </a:xfrm>
          <a:prstGeom prst="rect">
            <a:avLst/>
          </a:prstGeom>
          <a:solidFill>
            <a:srgbClr val="E5F6F6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PARTNER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2072" y="4535424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delivery capacity·risk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8152" y="4535424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reuse·managed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4232" y="4535424"/>
            <a:ext cx="29260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partner factory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468112"/>
            <a:ext cx="10927080" cy="530352"/>
          </a:xfrm>
          <a:prstGeom prst="rect">
            <a:avLst/>
          </a:prstGeom>
          <a:solidFill>
            <a:srgbClr val="F3F6F9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Single source of truth · Account → Repo → Pilot → Azure Subscription/Workload → ACR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운영 원칙: adoption review와 Azure pipeline review를 분리하지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seat·활성·PR·production deployment·ACR을 하나의 funnel로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5715000" cy="621792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72033"/>
                </a:solidFill>
                <a:latin typeface="Apple SD Gothic Neo"/>
              </a:rPr>
              <a:t>100 · TARGET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" y="2176272"/>
            <a:ext cx="4937760" cy="621792"/>
          </a:xfrm>
          <a:prstGeom prst="rect">
            <a:avLst/>
          </a:prstGeom>
          <a:solidFill>
            <a:srgbClr val="F1EBFC"/>
          </a:solidFill>
          <a:ln w="12700">
            <a:solidFill>
              <a:srgbClr val="593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72033"/>
                </a:solidFill>
                <a:latin typeface="Apple SD Gothic Neo"/>
              </a:rPr>
              <a:t>40 · VALUE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7048" y="2907792"/>
            <a:ext cx="4114800" cy="621792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72033"/>
                </a:solidFill>
                <a:latin typeface="Apple SD Gothic Neo"/>
              </a:rPr>
              <a:t>20 · MEASURED PILOTS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8528" y="3639312"/>
            <a:ext cx="3291840" cy="621792"/>
          </a:xfrm>
          <a:prstGeom prst="rect">
            <a:avLst/>
          </a:prstGeom>
          <a:solidFill>
            <a:srgbClr val="E8F3FB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72033"/>
                </a:solidFill>
                <a:latin typeface="Apple SD Gothic Neo"/>
              </a:rPr>
              <a:t>12 · PRODUCTION DEPLOYMENTS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4370832"/>
            <a:ext cx="2468880" cy="621792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172033"/>
                </a:solidFill>
                <a:latin typeface="Apple SD Gothic Neo"/>
              </a:rPr>
              <a:t>8 · EXPANSION CANDIDATES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75504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Apple SD Gothic Neo"/>
              </a:rPr>
              <a:t>제안 가정 · per 100 target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463040"/>
            <a:ext cx="2212848" cy="1508760"/>
          </a:xfrm>
          <a:prstGeom prst="rect">
            <a:avLst/>
          </a:prstGeom>
          <a:solidFill>
            <a:srgbClr val="F1EBFC"/>
          </a:solidFill>
          <a:ln w="1270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ADOPTION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assigned seats
active users
cohort depth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63040"/>
            <a:ext cx="2212848" cy="1508760"/>
          </a:xfrm>
          <a:prstGeom prst="rect">
            <a:avLst/>
          </a:prstGeom>
          <a:solidFill>
            <a:srgbClr val="E8F3F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ENGINEERING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PR/user
merge velocity
successful builds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364992"/>
            <a:ext cx="2212848" cy="1508760"/>
          </a:xfrm>
          <a:prstGeom prst="rect">
            <a:avLst/>
          </a:prstGeom>
          <a:solidFill>
            <a:srgbClr val="E8F3FB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CONVERSION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Azure architecture
production deploy
tagged workload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364992"/>
            <a:ext cx="2212848" cy="1508760"/>
          </a:xfrm>
          <a:prstGeom prst="rect">
            <a:avLst/>
          </a:prstGeom>
          <a:solidFill>
            <a:srgbClr val="E5F6F6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72033"/>
                </a:solidFill>
                <a:latin typeface="Apple SD Gothic Neo"/>
              </a:rPr>
              <a:t>OUTCOME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72033"/>
                </a:solidFill>
                <a:latin typeface="Apple SD Gothic Neo"/>
              </a:rPr>
              <a:t>incremental / expanded
Azure consumption
ACR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Apple SD Gothic Neo"/>
              </a:rPr>
              <a:t>Sources: GitHub Copilot usage metrics GA (2026-02-27) · Impact dashboard cohorts (2026-07-22)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Funnel 수치는 forecast가 아닌 operating model 예시이며 실제 baseline 후 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64592"/>
            <a:ext cx="2560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5A9E"/>
                </a:solidFill>
                <a:latin typeface="Apple SD Gothic Neo"/>
              </a:rPr>
              <a:t>90-DAY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698480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72033"/>
                </a:solidFill>
                <a:latin typeface="Apple SD Gothic Neo"/>
              </a:rPr>
              <a:t>첫 90일에 ‘반복 가능한 motion’과 ‘측정 가능한 production wins’를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64592"/>
            <a:ext cx="3200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2"/>
                </a:solidFill>
                <a:latin typeface="Apple SD Gothic Neo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37560" cy="2999232"/>
          </a:xfrm>
          <a:prstGeom prst="rect">
            <a:avLst/>
          </a:prstGeom>
          <a:solidFill>
            <a:srgbClr val="F1EBFC"/>
          </a:solidFill>
          <a:ln w="13970">
            <a:solidFill>
              <a:srgbClr val="825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/>
            <a:r>
              <a:rPr sz="1100" b="1">
                <a:solidFill>
                  <a:srgbClr val="8250DF"/>
                </a:solidFill>
                <a:latin typeface="Apple SD Gothic Neo"/>
              </a:rPr>
              <a:t>0–30 DAYS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72033"/>
                </a:solidFill>
                <a:latin typeface="Apple SD Gothic Neo"/>
              </a:rPr>
              <a:t>SELECT &amp; PACKAGE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우선 account cohort 선정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Account Pod·owner 확정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3개 offer·demo·scorecard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7408" y="1463040"/>
            <a:ext cx="3337560" cy="2999232"/>
          </a:xfrm>
          <a:prstGeom prst="rect">
            <a:avLst/>
          </a:prstGeom>
          <a:solidFill>
            <a:srgbClr val="E8F3FB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/>
            <a:r>
              <a:rPr sz="1100" b="1">
                <a:solidFill>
                  <a:srgbClr val="0078D4"/>
                </a:solidFill>
                <a:latin typeface="Apple SD Gothic Neo"/>
              </a:rPr>
              <a:t>31–60 DAYS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72033"/>
                </a:solidFill>
                <a:latin typeface="Apple SD Gothic Neo"/>
              </a:rPr>
              <a:t>EXECUTE &amp; LEARN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Exec value workshop 실행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Adoption + modernization pilots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주간 conversion blocker 제거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8083296" y="1463040"/>
            <a:ext cx="3337560" cy="2999232"/>
          </a:xfrm>
          <a:prstGeom prst="rect">
            <a:avLst/>
          </a:prstGeom>
          <a:solidFill>
            <a:srgbClr val="E5F6F6"/>
          </a:solidFill>
          <a:ln w="139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/>
            <a:r>
              <a:rPr sz="1100" b="1">
                <a:solidFill>
                  <a:srgbClr val="008C95"/>
                </a:solidFill>
                <a:latin typeface="Apple SD Gothic Neo"/>
              </a:rPr>
              <a:t>61–90 DAYS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72033"/>
                </a:solidFill>
                <a:latin typeface="Apple SD Gothic Neo"/>
              </a:rPr>
              <a:t>CONVERT &amp; SCALE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production Azure 배포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reference pattern·partner reuse</a:t>
            </a:r>
          </a:p>
          <a:p>
            <a:pPr>
              <a:spcBef>
                <a:spcPts val="900"/>
              </a:spcBef>
            </a:pPr>
            <a:r>
              <a:rPr sz="1320">
                <a:solidFill>
                  <a:srgbClr val="5B6472"/>
                </a:solidFill>
                <a:latin typeface="Apple SD Gothic Neo"/>
              </a:rPr>
              <a:t>• FY27 scale investment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73752"/>
            <a:ext cx="10689336" cy="75895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오늘 필요한 결정 · ① 우선 cohort  ② field capacity  ③ partner model  ④ common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72784"/>
            <a:ext cx="992124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North star: Copilot adoption이 Azure production workload로 반복 전환되는 field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472"/>
                </a:solidFill>
                <a:latin typeface="Apple SD Gothic Neo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