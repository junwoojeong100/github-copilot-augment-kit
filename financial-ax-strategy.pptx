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28655" y="502920"/>
            <a:ext cx="274320" cy="274320"/>
          </a:xfrm>
          <a:prstGeom prst="round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12703" y="502920"/>
            <a:ext cx="274320" cy="27432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6751" y="502920"/>
            <a:ext cx="274320" cy="2743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spc="200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FINANCIAL SERVICES · AX STRATEGY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규제를 넘어 혁신으로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3200400"/>
            <a:ext cx="2011680" cy="4572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38328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Microsoft Azure AI &amp; GitHub로 실현하는 금융 AI 전환(AX)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4617720"/>
            <a:ext cx="1321308" cy="420624"/>
          </a:xfrm>
          <a:prstGeom prst="roundRect">
            <a:avLst>
              <a:gd name="adj" fmla="val 17391"/>
            </a:avLst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617720"/>
            <a:ext cx="13213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AI 기본법 대응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0300" y="4617720"/>
            <a:ext cx="2089404" cy="420624"/>
          </a:xfrm>
          <a:prstGeom prst="roundRect">
            <a:avLst>
              <a:gd name="adj" fmla="val 17391"/>
            </a:avLst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0300" y="4617720"/>
            <a:ext cx="208940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Microsoft Foundry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90872" y="4617720"/>
            <a:ext cx="1801368" cy="420624"/>
          </a:xfrm>
          <a:prstGeom prst="roundRect">
            <a:avLst>
              <a:gd name="adj" fmla="val 17391"/>
            </a:avLst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4617720"/>
            <a:ext cx="18013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Responsible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93408" y="4617720"/>
            <a:ext cx="1033272" cy="420624"/>
          </a:xfrm>
          <a:prstGeom prst="roundRect">
            <a:avLst>
              <a:gd name="adj" fmla="val 17391"/>
            </a:avLst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4617720"/>
            <a:ext cx="10332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한국 금융 기업고객 대상 ·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2026년은 금융 AI의 변곡점입니다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>
              <a:gd name="adj" fmla="val 16666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02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5532120"/>
            <a:ext cx="7040880" cy="566928"/>
          </a:xfrm>
          <a:prstGeom prst="roundRect">
            <a:avLst>
              <a:gd name="adj" fmla="val 11290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532120"/>
            <a:ext cx="6126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규제 대응과 AX 실행은 따로가 아니라 하나의 설계입니다.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5532120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출처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5532120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금융위·금융보안원·NIA·Microsoft 고객사례 (2025~2026)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1609344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1755648"/>
            <a:ext cx="91440" cy="14401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1901952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WHY · 지금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" y="2450592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2578608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AI 기본법 시행 + 금융 AI 가이드라인 통합 + 망분리 완화로 클라우드·생성형 AI 길이 동시에 열림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1609344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1755648"/>
            <a:ext cx="91440" cy="14401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3116" y="1901952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HOW · 규제 대응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43116" y="2450592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116" y="2578608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데이터 주권 · Entra Agent ID · Purview for AI · Defender로 통제를 플랫폼에 내장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662172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3808476"/>
            <a:ext cx="91440" cy="144018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" y="3954780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HOW · AX 실행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2416" y="4503420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4631436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Microsoft Foundry(에이전트·멀티모델) + GitHub Copilot·Advanced Security로 속도와 보안 동시 확보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9068" y="3662172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9068" y="3808476"/>
            <a:ext cx="91440" cy="14401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3116" y="3954780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PROOF · 증명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43116" y="4503420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3116" y="4631436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KakaoBank·신한·NH·KB·우리 등 한국 금융권이 규제 안에서 성과 창출(2025~)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규제를 넘어 혁신으로 — 금융 AX 전략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0E7C86"/>
                </a:solidFill>
                <a:latin typeface="Segoe UI"/>
                <a:ea typeface="Malgun Gothic"/>
                <a:cs typeface="Segoe U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금융을 둘러싼 두 개의 물결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>
              <a:gd name="adj" fmla="val 16666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03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09344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기회와 규제가 동시에 밀려옵니다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53212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핵심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5532120"/>
            <a:ext cx="9966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기회만 좇으면 규제 리스크, 규제만 보면 경쟁 열위 — 둘을 함께 설계해야 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029968"/>
            <a:ext cx="5257800" cy="3364992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029968"/>
            <a:ext cx="5257800" cy="658368"/>
          </a:xfrm>
          <a:prstGeom prst="roundRect">
            <a:avLst>
              <a:gd name="adj" fmla="val 13888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029968"/>
            <a:ext cx="4709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기회 · AI 가치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871216"/>
            <a:ext cx="4709160" cy="2359152"/>
          </a:xfrm>
          <a:prstGeom prst="rect">
            <a:avLst/>
          </a:prstGeom>
          <a:noFill/>
        </p:spPr>
        <p:txBody>
          <a:bodyPr wrap="square" lIns="18288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상담·심사·리스크·마케팅·개발 전 영역의 생성형 AI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에이전트가 업무를 '실행'하는 단계로 진입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데이터 기반 초개인화 금융서비스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2029968"/>
            <a:ext cx="5257800" cy="3364992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81928" y="2029968"/>
            <a:ext cx="5257800" cy="658368"/>
          </a:xfrm>
          <a:prstGeom prst="roundRect">
            <a:avLst>
              <a:gd name="adj" fmla="val 13888"/>
            </a:avLst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029968"/>
            <a:ext cx="4709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압박 · 규제 강화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871216"/>
            <a:ext cx="4709160" cy="2359152"/>
          </a:xfrm>
          <a:prstGeom prst="rect">
            <a:avLst/>
          </a:prstGeom>
          <a:noFill/>
        </p:spPr>
        <p:txBody>
          <a:bodyPr wrap="square" lIns="18288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글로벌: EU AI Act · NIST AI RMF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국내: AI 기본법 · 금융분야 AI 가이드라인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금융 특수성: 신용·자산·개인정보 파급 최대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규제를 넘어 혁신으로 — 금융 AX 전략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6B4FA1"/>
                </a:solidFill>
                <a:latin typeface="Segoe UI"/>
                <a:ea typeface="Malgun Gothic"/>
                <a:cs typeface="Segoe UI"/>
              </a:rPr>
              <a:t>REGULATORY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한국 금융 AI 규제 — 알아야 할 4개 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>
              <a:gd name="adj" fmla="val 16666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04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6B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553212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출처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532120"/>
            <a:ext cx="9966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금융위·금융보안원·국가법령정보센터·NIA (시행 세부는 공식 소스 재확인)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1609344"/>
          <a:ext cx="10881360" cy="3785616"/>
        </p:xfrm>
        <a:graphic>
          <a:graphicData uri="http://schemas.openxmlformats.org/drawingml/2006/table">
            <a:tbl>
              <a:tblPr bandRow="1"/>
              <a:tblGrid>
                <a:gridCol w="3627120"/>
                <a:gridCol w="3627120"/>
                <a:gridCol w="3627120"/>
              </a:tblGrid>
              <a:tr h="757123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Malgun Gothic"/>
                          <a:cs typeface="Segoe UI"/>
                        </a:rPr>
                        <a:t>규제 축</a:t>
                      </a:r>
                    </a:p>
                  </a:txBody>
                  <a:tcPr marL="128016" marR="91440" marT="54864" marB="54864">
                    <a:solidFill>
                      <a:srgbClr val="0F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Malgun Gothic"/>
                          <a:cs typeface="Segoe UI"/>
                        </a:rPr>
                        <a:t>핵심 (2026)</a:t>
                      </a:r>
                    </a:p>
                  </a:txBody>
                  <a:tcPr marL="128016" marR="91440" marT="54864" marB="54864">
                    <a:solidFill>
                      <a:srgbClr val="0F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Malgun Gothic"/>
                          <a:cs typeface="Segoe UI"/>
                        </a:rPr>
                        <a:t>금융사 시사점</a:t>
                      </a:r>
                    </a:p>
                  </a:txBody>
                  <a:tcPr marL="128016" marR="91440" marT="54864" marB="54864">
                    <a:solidFill>
                      <a:srgbClr val="0F2A4A"/>
                    </a:solidFill>
                  </a:tcPr>
                </a:tc>
              </a:tr>
              <a:tr h="757123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AI 기본법 (2026.1.22 시행)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시행령 + 5대 가이드라인. 금융 신용평가·여신=고영향 AI. 계도 1년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고영향 식별·영향평가·투명성 체계 구축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</a:tr>
              <a:tr h="757123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금융 AI 가이드라인 (2026 1분기 통합)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3개→1개 통합, 7대 원칙(거버넌스·신뢰성·보안성 등)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AI 전담조직·윤리위, 사전·사후 점검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</a:tr>
              <a:tr h="757123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망분리 완화 (2026.5~)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보안역량 충족 최대 10곳 실증(6~7월)→순차 확대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클라우드·생성형 AI 본격 활용 길 개통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</a:tr>
              <a:tr h="757124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금융보안원 AI 보안성 평가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프롬프트 인젝션 등 AI 특화 위협 진단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AI 가드레일 사전 내재화 필수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규제를 넘어 혁신으로 — 금융 AX 전략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spc="200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THE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1600200"/>
            <a:ext cx="914400" cy="54864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통제를 '나중에 붙이는 것'이 아니라 '플랫폼에 내장'하면 속도와 안전을 동시에 얻습니다.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고객데이터 보호 · 환각·편향 통제 · 감사·설명책임 · 망분리 환경 — 모두 설계의 문제입니다.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669280"/>
            <a:ext cx="1033272" cy="420624"/>
          </a:xfrm>
          <a:prstGeom prst="roundRect">
            <a:avLst>
              <a:gd name="adj" fmla="val 17391"/>
            </a:avLst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669280"/>
            <a:ext cx="10332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통제된 혁신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5669280"/>
            <a:ext cx="2281428" cy="420624"/>
          </a:xfrm>
          <a:prstGeom prst="roundRect">
            <a:avLst>
              <a:gd name="adj" fmla="val 17391"/>
            </a:avLst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5669280"/>
            <a:ext cx="22814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Governed Innovation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Microsoft 안전한 금융 AI 스택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>
              <a:gd name="adj" fmla="val 16666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06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09344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채널부터 거버넌스까지 — 레이어마다 통제가 기본 내장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53212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출처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5532120"/>
            <a:ext cx="9966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Microsoft Learn (Foundry·AI Search·Content Safety·Entra·Purview)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029968"/>
            <a:ext cx="2468880" cy="2468880"/>
          </a:xfrm>
          <a:prstGeom prst="roundRect">
            <a:avLst>
              <a:gd name="adj" fmla="val 4074"/>
            </a:avLst>
          </a:prstGeom>
          <a:solidFill>
            <a:srgbClr val="0F2A4A"/>
          </a:solidFill>
          <a:ln>
            <a:noFill/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04288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신원·접근 통제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43200"/>
            <a:ext cx="1956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Microsoft Entra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01568"/>
            <a:ext cx="195681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사용자·에이전트 ID(Agent ID) · 조건부 접근 · 최소권한 · 감사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2029968"/>
            <a:ext cx="8138160" cy="362102"/>
          </a:xfrm>
          <a:prstGeom prst="roundRect">
            <a:avLst>
              <a:gd name="adj" fmla="val 22727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94176" y="2029968"/>
            <a:ext cx="3418027" cy="3621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사용자 채널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203" y="2029968"/>
            <a:ext cx="4134917" cy="3621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Teams · Microsoft 365 · 사내 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6932" y="2392070"/>
            <a:ext cx="27432" cy="164592"/>
          </a:xfrm>
          <a:prstGeom prst="rect">
            <a:avLst/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01568" y="2556662"/>
            <a:ext cx="8138160" cy="362102"/>
          </a:xfrm>
          <a:prstGeom prst="roundRect">
            <a:avLst>
              <a:gd name="adj" fmla="val 22727"/>
            </a:avLst>
          </a:prstGeom>
          <a:solidFill>
            <a:srgbClr val="0078D4"/>
          </a:solidFill>
          <a:ln>
            <a:noFill/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176" y="2556662"/>
            <a:ext cx="3418027" cy="3621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AI 플랫폼 · Microsoft Foundry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2203" y="2556662"/>
            <a:ext cx="4134917" cy="3621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멀티모델 · 에이전트 런타임 · 평가 · 관측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6932" y="2918764"/>
            <a:ext cx="27432" cy="164592"/>
          </a:xfrm>
          <a:prstGeom prst="rect">
            <a:avLst/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01568" y="3083356"/>
            <a:ext cx="8138160" cy="362102"/>
          </a:xfrm>
          <a:prstGeom prst="roundRect">
            <a:avLst>
              <a:gd name="adj" fmla="val 22727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083356"/>
            <a:ext cx="3418027" cy="3621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근거 검색 · Azure AI Search / Foundry IQ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2203" y="3083356"/>
            <a:ext cx="4134917" cy="3621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벡터·하이브리드 RAG + 인용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6932" y="3445459"/>
            <a:ext cx="27432" cy="164592"/>
          </a:xfrm>
          <a:prstGeom prst="rect">
            <a:avLst/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01568" y="3610051"/>
            <a:ext cx="8138160" cy="362102"/>
          </a:xfrm>
          <a:prstGeom prst="roundRect">
            <a:avLst>
              <a:gd name="adj" fmla="val 22727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4176" y="3610051"/>
            <a:ext cx="3418027" cy="3621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안전장치 · Azure AI Content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2203" y="3610051"/>
            <a:ext cx="4134917" cy="3621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Prompt Shield · Groundedness · 유해성 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6932" y="3972153"/>
            <a:ext cx="27432" cy="164592"/>
          </a:xfrm>
          <a:prstGeom prst="rect">
            <a:avLst/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01568" y="4136745"/>
            <a:ext cx="8138160" cy="362102"/>
          </a:xfrm>
          <a:prstGeom prst="roundRect">
            <a:avLst>
              <a:gd name="adj" fmla="val 22727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94176" y="4136745"/>
            <a:ext cx="3418027" cy="3621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데이터 보호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2203" y="4136745"/>
            <a:ext cx="4134917" cy="3621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국내 리전 · 암호화 · Confidential Computing · 고객관리키(HSM)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681728"/>
            <a:ext cx="10881360" cy="713232"/>
          </a:xfrm>
          <a:prstGeom prst="roundRect">
            <a:avLst>
              <a:gd name="adj" fmla="val 11538"/>
            </a:avLst>
          </a:prstGeom>
          <a:solidFill>
            <a:srgbClr val="16395F"/>
          </a:solidFill>
          <a:ln>
            <a:noFill/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4681728"/>
            <a:ext cx="3108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거버넌스 &amp; 보안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1648" y="4681728"/>
            <a:ext cx="7223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Microsoft Purview for AI · Defender · Service Trust Portal · GitHub Advanced Security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규제를 넘어 혁신으로 — 금융 AX 전략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0E7C86"/>
                </a:solidFill>
                <a:latin typeface="Segoe UI"/>
                <a:ea typeface="Malgun Gothic"/>
                <a:cs typeface="Segoe UI"/>
              </a:rPr>
              <a:t>COMPLIANCE ·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데이터 주권 · 신원 · 거버넌스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>
              <a:gd name="adj" fmla="val 16666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07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5532120"/>
            <a:ext cx="7040880" cy="566928"/>
          </a:xfrm>
          <a:prstGeom prst="roundRect">
            <a:avLst>
              <a:gd name="adj" fmla="val 11290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532120"/>
            <a:ext cx="6126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데이터는 국내에, 접근은 최소권한으로, 모든 행위는 감사 가능하게.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5532120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출처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5532120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Microsoft Purview for AI(GA) · Entra Agent ID · KT-Microsoft 주권 클라우드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1609344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1755648"/>
            <a:ext cx="91440" cy="14401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1901952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데이터 주권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" y="2450592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2578608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국내 리전 저장·처리, Confidential Computing, 고객관리 암호화키(HSM)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1609344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1755648"/>
            <a:ext cx="91440" cy="14401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3116" y="1901952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신원 · Entra Agent 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43116" y="2450592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116" y="2578608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에이전트에 고유 신원 부여, 조건부 접근·RBAC·즉시 회수 (FFIEC류 대응)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662172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3808476"/>
            <a:ext cx="91440" cy="144018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" y="3954780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데이터 거버넌스 · Purview for 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2416" y="4503420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4631436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DSPM·DLP(프롬프트/응답/데이터 3경계)·민감도 라벨·감사 (GA)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9068" y="3662172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9068" y="3808476"/>
            <a:ext cx="91440" cy="14401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3116" y="3954780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보안 운영 · Defender + STP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43116" y="4503420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3116" y="4631436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런타임 위협 탐지 + Service Trust Portal 인증·감사 근거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규제를 넘어 혁신으로 — 금융 AX 전략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6B4FA1"/>
                </a:solidFill>
                <a:latin typeface="Segoe UI"/>
                <a:ea typeface="Malgun Gothic"/>
                <a:cs typeface="Segoe UI"/>
              </a:rPr>
              <a:t>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책임있는 AI · 모델 앞뒤의 가드레일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>
              <a:gd name="adj" fmla="val 16666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08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6B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5532120"/>
            <a:ext cx="7040880" cy="566928"/>
          </a:xfrm>
          <a:prstGeom prst="roundRect">
            <a:avLst>
              <a:gd name="adj" fmla="val 11290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6B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532120"/>
            <a:ext cx="6126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이 가드레일이 금융보안원 보안성 평가와 AI 기본법 투명성·위험관리 의무에 직접 대응합니다.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5532120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출처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5532120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Azure AI Content Safety · Foundry 평가/관측 · Responsible AI 6원칙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24912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0F2A4A"/>
          </a:solidFill>
          <a:ln>
            <a:noFill/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입력 가드레일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438144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Prompt Shield로 인젝션·탈옥 차단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2724912"/>
            <a:ext cx="4572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93008" y="2724912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005A9E"/>
          </a:solidFill>
          <a:ln>
            <a:noFill/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5888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근거 기반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8" y="3438144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Groundedness + 인용으로 환각 억제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2724912"/>
            <a:ext cx="4572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2724912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0F2A4A"/>
          </a:solidFill>
          <a:ln>
            <a:noFill/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출력 안전 필터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438144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Content Safety 유해성 차단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2724912"/>
            <a:ext cx="4572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62288" y="2724912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005A9E"/>
          </a:solidFill>
          <a:ln>
            <a:noFill/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평가·관측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3438144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Evaluation · Red teaming · 추적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규제를 넘어 혁신으로 — 금융 AX 전략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0078D4"/>
                </a:solidFill>
                <a:latin typeface="Segoe UI"/>
                <a:ea typeface="Malgun Gothic"/>
                <a:cs typeface="Segoe UI"/>
              </a:rPr>
              <a:t>AX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AX 실행 플랫폼 · Microsoft Foundry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>
              <a:gd name="adj" fmla="val 16666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09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5532120"/>
            <a:ext cx="7040880" cy="566928"/>
          </a:xfrm>
          <a:prstGeom prst="roundRect">
            <a:avLst>
              <a:gd name="adj" fmla="val 11290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532120"/>
            <a:ext cx="6126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단발 챗봇이 아니라, 업무를 수행하는 에이전트를 안전하게 양산하는 공장입니다.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5532120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출처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5532120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Microsoft Foundry (Build 2026)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1609344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1755648"/>
            <a:ext cx="91440" cy="14401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1901952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멀티모델 선택권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" y="2450592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2578608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용도별 최적 모델(상용+오픈소스) — 비용·성능·주권 균형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1609344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1755648"/>
            <a:ext cx="91440" cy="14401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3116" y="1901952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에이전트 런타임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43116" y="2450592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116" y="2578608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관리형·샌드박스 에이전트, 멀티에이전트 오케스트레이션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662172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3808476"/>
            <a:ext cx="91440" cy="144018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" y="3954780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지식 연결 · Foundry IQ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2416" y="4503420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4631436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서버리스 검색·SLA 기반 지식베이스로 사내 데이터 근거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9068" y="3662172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9068" y="3808476"/>
            <a:ext cx="91440" cy="14401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3116" y="3954780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거버넌스 내장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43116" y="4503420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3116" y="4631436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Agent Control Spec · Entra Agent ID · 평가·관측 — 규제 산업 적합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규제를 넘어 혁신으로 — 금융 AX 전략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DEVELOPER 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개발 생산성 + 보안 내재화 ·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>
              <a:gd name="adj" fmla="val 16666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10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09344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속도는 높이고, 보안·규제는 코드 단계부터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53212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핵심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5532120"/>
            <a:ext cx="9966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AI 생성 코드는 사람 검토를 원칙으로 — 속도와 통제를 함께.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029968"/>
            <a:ext cx="5257800" cy="3364992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2029968"/>
            <a:ext cx="5257800" cy="658368"/>
          </a:xfrm>
          <a:prstGeom prst="roundRect">
            <a:avLst>
              <a:gd name="adj" fmla="val 13888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029968"/>
            <a:ext cx="4709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GitHub Copilot · 생산성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871216"/>
            <a:ext cx="4709160" cy="2359152"/>
          </a:xfrm>
          <a:prstGeom prst="rect">
            <a:avLst/>
          </a:prstGeom>
          <a:noFill/>
        </p:spPr>
        <p:txBody>
          <a:bodyPr wrap="square" lIns="18288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코드 생성·리뷰·레거시 현대화 가속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데이터 레지던시 US/EU GA(2026.4) · EU Data Boundary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Business/Enterprise 코드 학습 미사용 · IP 보호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2029968"/>
            <a:ext cx="5257800" cy="3364992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81928" y="2029968"/>
            <a:ext cx="5257800" cy="658368"/>
          </a:xfrm>
          <a:prstGeom prst="roundRect">
            <a:avLst>
              <a:gd name="adj" fmla="val 13888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029968"/>
            <a:ext cx="47091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Advanced Security · 보안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871216"/>
            <a:ext cx="4709160" cy="2359152"/>
          </a:xfrm>
          <a:prstGeom prst="rect">
            <a:avLst/>
          </a:prstGeom>
          <a:noFill/>
        </p:spPr>
        <p:txBody>
          <a:bodyPr wrap="square" lIns="18288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SAST · CodeQL 코드 스캐닝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Secret scanning · push protection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SBOM · 의존성 관리(공급망 보안)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규제를 넘어 혁신으로 — 금융 AX 전략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0E7C86"/>
                </a:solidFill>
                <a:latin typeface="Segoe UI"/>
                <a:ea typeface="Malgun Gothic"/>
                <a:cs typeface="Segoe UI"/>
              </a:rPr>
              <a:t>USE CASE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금융 AX 유즈케이스 — 어디서 시작할까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>
              <a:gd name="adj" fmla="val 16666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11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5532120"/>
            <a:ext cx="7040880" cy="566928"/>
          </a:xfrm>
          <a:prstGeom prst="roundRect">
            <a:avLst>
              <a:gd name="adj" fmla="val 11290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532120"/>
            <a:ext cx="6126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가치 × 실현가능성으로 Quick Win부터 — 고영향 영역은 통제를 강화해 후행.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5532120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출처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5532120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한국 금융권 도입 사례 기반 (2025~2026)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58368" y="1609344"/>
          <a:ext cx="10881360" cy="3785616"/>
        </p:xfrm>
        <a:graphic>
          <a:graphicData uri="http://schemas.openxmlformats.org/drawingml/2006/table">
            <a:tbl>
              <a:tblPr bandRow="1"/>
              <a:tblGrid>
                <a:gridCol w="3627120"/>
                <a:gridCol w="3627120"/>
                <a:gridCol w="3627120"/>
              </a:tblGrid>
              <a:tr h="54080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Malgun Gothic"/>
                          <a:cs typeface="Segoe UI"/>
                        </a:rPr>
                        <a:t>영역</a:t>
                      </a:r>
                    </a:p>
                  </a:txBody>
                  <a:tcPr marL="128016" marR="91440" marT="54864" marB="54864">
                    <a:solidFill>
                      <a:srgbClr val="0F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Malgun Gothic"/>
                          <a:cs typeface="Segoe UI"/>
                        </a:rPr>
                        <a:t>유즈케이스 예</a:t>
                      </a:r>
                    </a:p>
                  </a:txBody>
                  <a:tcPr marL="128016" marR="91440" marT="54864" marB="54864">
                    <a:solidFill>
                      <a:srgbClr val="0F2A4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Malgun Gothic"/>
                          <a:cs typeface="Segoe UI"/>
                        </a:rPr>
                        <a:t>우선순위</a:t>
                      </a:r>
                    </a:p>
                  </a:txBody>
                  <a:tcPr marL="128016" marR="91440" marT="54864" marB="54864">
                    <a:solidFill>
                      <a:srgbClr val="0F2A4A"/>
                    </a:solidFill>
                  </a:tcPr>
                </a:tc>
              </a:tr>
              <a:tr h="54080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고객접점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대화형 상담·검색, AI 금융계산기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Quick Win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</a:tr>
              <a:tr h="54080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임직원 생산성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사내지식 검색(RAG), 문서·보고서 작성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Quick Win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</a:tr>
              <a:tr h="54080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개발·IT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코드 생성·현대화, 보안 점검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Quick Win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</a:tr>
              <a:tr h="54080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심사·리스크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여신심사 보조, 이상거래·사기탐지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고가치·고난도(고영향)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</a:tr>
              <a:tr h="540802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준법·감사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규정 질의응답, 모니터링 자동화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중간</a:t>
                      </a:r>
                    </a:p>
                  </a:txBody>
                  <a:tcPr marL="128016" marR="91440" marT="54864" marB="54864">
                    <a:solidFill>
                      <a:srgbClr val="FFFFFF"/>
                    </a:solidFill>
                  </a:tcPr>
                </a:tc>
              </a:tr>
              <a:tr h="540804"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1">
                          <a:solidFill>
                            <a:srgbClr val="0F2A4A"/>
                          </a:solidFill>
                          <a:latin typeface="Segoe UI"/>
                          <a:ea typeface="Malgun Gothic"/>
                          <a:cs typeface="Segoe UI"/>
                        </a:rPr>
                        <a:t>자산관리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개인화 자문 보조(AI PB)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100" b="0">
                          <a:solidFill>
                            <a:srgbClr val="1F2937"/>
                          </a:solidFill>
                          <a:latin typeface="Segoe UI"/>
                          <a:ea typeface="Malgun Gothic"/>
                          <a:cs typeface="Segoe UI"/>
                        </a:rPr>
                        <a:t>고가치·규제 민감</a:t>
                      </a:r>
                    </a:p>
                  </a:txBody>
                  <a:tcPr marL="128016" marR="91440" marT="54864" marB="54864"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규제를 넘어 혁신으로 — 금융 AX 전략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B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6B4FA1"/>
                </a:solidFill>
                <a:latin typeface="Segoe UI"/>
                <a:ea typeface="Malgun Gothic"/>
                <a:cs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실행 로드맵 · Crawl – Walk –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>
              <a:gd name="adj" fmla="val 16666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12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6B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553212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6B4F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532120"/>
            <a:ext cx="9966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한 번에 전사 전환이 아니라, 검증 → 확산 → 내재화로.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920240"/>
            <a:ext cx="10515600" cy="3657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" y="1719072"/>
            <a:ext cx="438912" cy="438912"/>
          </a:xfrm>
          <a:prstGeom prst="ellipse">
            <a:avLst/>
          </a:prstGeom>
          <a:solidFill>
            <a:srgbClr val="0078D4"/>
          </a:solidFill>
          <a:ln>
            <a:noFill/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17190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386584"/>
            <a:ext cx="3413760" cy="3008376"/>
          </a:xfrm>
          <a:prstGeom prst="roundRect">
            <a:avLst>
              <a:gd name="adj" fmla="val 3039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23744"/>
            <a:ext cx="295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78D4"/>
                </a:solidFill>
                <a:latin typeface="Segoe UI"/>
                <a:ea typeface="Malgun Gothic"/>
                <a:cs typeface="Segoe UI"/>
              </a:rPr>
              <a:t>Now · 0~3M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07792"/>
            <a:ext cx="295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Crawl ·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38144"/>
            <a:ext cx="2956560" cy="1773936"/>
          </a:xfrm>
          <a:prstGeom prst="rect">
            <a:avLst/>
          </a:prstGeom>
          <a:noFill/>
        </p:spPr>
        <p:txBody>
          <a:bodyPr wrap="square" lIns="18288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랜딩존·데이터 주권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Copilot 파일럿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Quick Win 1~2개</a:t>
            </a:r>
          </a:p>
        </p:txBody>
      </p:sp>
      <p:sp>
        <p:nvSpPr>
          <p:cNvPr id="20" name="Oval 19"/>
          <p:cNvSpPr/>
          <p:nvPr/>
        </p:nvSpPr>
        <p:spPr>
          <a:xfrm>
            <a:off x="4437888" y="1719072"/>
            <a:ext cx="438912" cy="438912"/>
          </a:xfrm>
          <a:prstGeom prst="ellipse">
            <a:avLst/>
          </a:prstGeom>
          <a:solidFill>
            <a:srgbClr val="0078D4"/>
          </a:solidFill>
          <a:ln>
            <a:noFill/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7888" y="17190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92168" y="2386584"/>
            <a:ext cx="3413760" cy="3008376"/>
          </a:xfrm>
          <a:prstGeom prst="roundRect">
            <a:avLst>
              <a:gd name="adj" fmla="val 3039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8200" y="2523744"/>
            <a:ext cx="295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78D4"/>
                </a:solidFill>
                <a:latin typeface="Segoe UI"/>
                <a:ea typeface="Malgun Gothic"/>
                <a:cs typeface="Segoe UI"/>
              </a:rPr>
              <a:t>Next · 3~12M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8200" y="2907792"/>
            <a:ext cx="295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Walk · 확산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8200" y="3438144"/>
            <a:ext cx="2956560" cy="1773936"/>
          </a:xfrm>
          <a:prstGeom prst="rect">
            <a:avLst/>
          </a:prstGeom>
          <a:noFill/>
        </p:spPr>
        <p:txBody>
          <a:bodyPr wrap="square" lIns="18288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RAG 지식플랫폼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Foundry 에이전트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GHAS 전면 적용</a:t>
            </a:r>
          </a:p>
        </p:txBody>
      </p:sp>
      <p:sp>
        <p:nvSpPr>
          <p:cNvPr id="26" name="Oval 25"/>
          <p:cNvSpPr/>
          <p:nvPr/>
        </p:nvSpPr>
        <p:spPr>
          <a:xfrm>
            <a:off x="8171688" y="1719072"/>
            <a:ext cx="438912" cy="438912"/>
          </a:xfrm>
          <a:prstGeom prst="ellipse">
            <a:avLst/>
          </a:prstGeom>
          <a:solidFill>
            <a:srgbClr val="E6A532"/>
          </a:solidFill>
          <a:ln>
            <a:noFill/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1688" y="17190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5968" y="2386584"/>
            <a:ext cx="3413760" cy="3008376"/>
          </a:xfrm>
          <a:prstGeom prst="roundRect">
            <a:avLst>
              <a:gd name="adj" fmla="val 3039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000" y="2523744"/>
            <a:ext cx="295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Later · 12M+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0" y="2907792"/>
            <a:ext cx="295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Run · 내재화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0" y="3438144"/>
            <a:ext cx="2956560" cy="1773936"/>
          </a:xfrm>
          <a:prstGeom prst="rect">
            <a:avLst/>
          </a:prstGeom>
          <a:noFill/>
        </p:spPr>
        <p:txBody>
          <a:bodyPr wrap="square" lIns="18288" rIns="45720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심사·리스크 에이전트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전사 내재화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• 운영모델 정착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규제를 넘어 혁신으로 — 금융 AX 전략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0078D4"/>
                </a:solidFill>
                <a:latin typeface="Segoe UI"/>
                <a:ea typeface="Malgun Gothic"/>
                <a:cs typeface="Segoe UI"/>
              </a:rPr>
              <a:t>GOVERNANCE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안심하고 확산하는 거버넌스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>
              <a:gd name="adj" fmla="val 16666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13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553212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532120"/>
            <a:ext cx="9966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기술만큼 중요한 것은 누가·어떻게 통제하는가입니다.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609344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1755648"/>
            <a:ext cx="91440" cy="14401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1901952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AI CoE · 윤리위원회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2416" y="2450592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2578608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정책·표준·리뷰보드·리스크 분류 (경영진 책임)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9068" y="1609344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9068" y="1755648"/>
            <a:ext cx="91440" cy="14401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3116" y="1901952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Responsible AI 운영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3116" y="2450592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3116" y="2578608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영향평가·평가·레드티밍·모니터링 루틴화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62172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808476"/>
            <a:ext cx="91440" cy="144018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" y="3954780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규제 × 통제 매핑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6" y="4503420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631436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AI기본법·금융 가이드라인·PIPA × Entra·Purview·Content Safety·STP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9068" y="3662172"/>
            <a:ext cx="5280660" cy="1732788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59068" y="3808476"/>
            <a:ext cx="91440" cy="14401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3954780"/>
            <a:ext cx="46771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변화관리 · ADKAR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43116" y="4503420"/>
            <a:ext cx="4677156" cy="12801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4631436"/>
            <a:ext cx="467715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인식→의지→지식→역량→정착, 임직원 업스킬링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규제를 넘어 혁신으로 — 금융 AX 전략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spc="180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PROOF · CUSTOMER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9326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egoe UI"/>
                <a:ea typeface="Malgun Gothic"/>
                <a:cs typeface="Segoe UI"/>
              </a:rPr>
              <a:t>한국 금융권은 이미 성과를 내고 있습니다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18927" y="493776"/>
            <a:ext cx="914400" cy="384048"/>
          </a:xfrm>
          <a:prstGeom prst="roundRect">
            <a:avLst>
              <a:gd name="adj" fmla="val 16666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18927" y="512064"/>
            <a:ext cx="914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14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10881360" cy="13716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84402"/>
            <a:ext cx="1371600" cy="31089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5532120"/>
            <a:ext cx="7040880" cy="566928"/>
          </a:xfrm>
          <a:prstGeom prst="roundRect">
            <a:avLst>
              <a:gd name="adj" fmla="val 11290"/>
            </a:avLst>
          </a:prstGeom>
          <a:solidFill>
            <a:srgbClr val="F3F7FC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532120"/>
            <a:ext cx="6126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Segoe UI"/>
                <a:ea typeface="Malgun Gothic"/>
                <a:cs typeface="Segoe UI"/>
              </a:rPr>
              <a:t>규제 안에서 Azure OpenAI로 고객경험·생산성 성과를 입증했습니다.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5532120"/>
            <a:ext cx="3566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5650992"/>
            <a:ext cx="566928" cy="329184"/>
          </a:xfrm>
          <a:prstGeom prst="roundRect">
            <a:avLst>
              <a:gd name="adj" fmla="val 13888"/>
            </a:avLst>
          </a:prstGeom>
          <a:solidFill>
            <a:srgbClr val="9AB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5650992"/>
            <a:ext cx="5669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출처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5532120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Microsoft 고객사례·업계 보도(2025~2026) — 수치는 출처 기준·재확인 권장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1609344"/>
            <a:ext cx="2480310" cy="2468880"/>
          </a:xfrm>
          <a:prstGeom prst="roundRect">
            <a:avLst>
              <a:gd name="adj" fmla="val 3703"/>
            </a:avLst>
          </a:prstGeom>
          <a:solidFill>
            <a:srgbClr val="0F2A4A"/>
          </a:solidFill>
          <a:ln>
            <a:noFill/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1993392"/>
            <a:ext cx="202311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국내 최초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090672"/>
            <a:ext cx="19316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KakaoBank 대화형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511296"/>
            <a:ext cx="19316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2025.5 Azure OpenAI 기반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8718" y="1609344"/>
            <a:ext cx="2480310" cy="2468880"/>
          </a:xfrm>
          <a:prstGeom prst="roundRect">
            <a:avLst>
              <a:gd name="adj" fmla="val 3703"/>
            </a:avLst>
          </a:prstGeom>
          <a:solidFill>
            <a:srgbClr val="0F2A4A"/>
          </a:solidFill>
          <a:ln>
            <a:noFill/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9614" y="1993392"/>
            <a:ext cx="202311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~30%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7902" y="3090672"/>
            <a:ext cx="19316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상품페이지 클릭률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7902" y="3511296"/>
            <a:ext cx="19316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AI 검색 도입 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9068" y="1609344"/>
            <a:ext cx="2480310" cy="2468880"/>
          </a:xfrm>
          <a:prstGeom prst="roundRect">
            <a:avLst>
              <a:gd name="adj" fmla="val 3703"/>
            </a:avLst>
          </a:prstGeom>
          <a:solidFill>
            <a:srgbClr val="0F2A4A"/>
          </a:solidFill>
          <a:ln>
            <a:noFill/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9964" y="1993392"/>
            <a:ext cx="202311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1,100+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8252" y="3090672"/>
            <a:ext cx="19316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NH농협 AI 행원 지점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8252" y="3511296"/>
            <a:ext cx="19316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전 지점 확산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9418" y="1609344"/>
            <a:ext cx="2480310" cy="2468880"/>
          </a:xfrm>
          <a:prstGeom prst="roundRect">
            <a:avLst>
              <a:gd name="adj" fmla="val 3703"/>
            </a:avLst>
          </a:prstGeom>
          <a:solidFill>
            <a:srgbClr val="0F2A4A"/>
          </a:solidFill>
          <a:ln>
            <a:noFill/>
          </a:ln>
          <a:effectLst>
            <a:outerShdw blurRad="46000" dist="20000" dir="5400000" rotWithShape="0">
              <a:srgbClr val="0B1B3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0314" y="1993392"/>
            <a:ext cx="202311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E6A532"/>
                </a:solidFill>
                <a:latin typeface="Segoe UI"/>
                <a:ea typeface="Malgun Gothic"/>
                <a:cs typeface="Segoe UI"/>
              </a:rPr>
              <a:t>175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8602" y="3090672"/>
            <a:ext cx="193167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우리은행 전사 AI 에이전트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8602" y="3511296"/>
            <a:ext cx="19316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업무 자동화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6327648"/>
            <a:ext cx="10881360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6446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규제를 넘어 혁신으로 — 금융 AX 전략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Segoe UI"/>
                <a:ea typeface="Malgun Gothic"/>
                <a:cs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28655" y="502920"/>
            <a:ext cx="274320" cy="274320"/>
          </a:xfrm>
          <a:prstGeom prst="round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112703" y="502920"/>
            <a:ext cx="274320" cy="27432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96751" y="502920"/>
            <a:ext cx="274320" cy="2743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6A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다음 4주, 이렇게 시작합니다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118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AB4CF"/>
                </a:solidFill>
                <a:latin typeface="Segoe UI"/>
                <a:ea typeface="Malgun Gothic"/>
                <a:cs typeface="Segoe UI"/>
              </a:rPr>
              <a:t>① 고영향 AI·규제 진단  ② 유즈케이스 우선순위 워크숍  ③ 데이터주권·랜딩존 설계  ④ Quick Win + Copilot 파일럿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754880"/>
            <a:ext cx="1993392" cy="420624"/>
          </a:xfrm>
          <a:prstGeom prst="roundRect">
            <a:avLst>
              <a:gd name="adj" fmla="val 17391"/>
            </a:avLst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754880"/>
            <a:ext cx="19933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AI Readiness 워크숍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4754880"/>
            <a:ext cx="1225296" cy="420624"/>
          </a:xfrm>
          <a:prstGeom prst="roundRect">
            <a:avLst>
              <a:gd name="adj" fmla="val 17391"/>
            </a:avLst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4754880"/>
            <a:ext cx="122529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규제 대응 설계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4754880"/>
            <a:ext cx="745236" cy="420624"/>
          </a:xfrm>
          <a:prstGeom prst="roundRect">
            <a:avLst>
              <a:gd name="adj" fmla="val 17391"/>
            </a:avLst>
          </a:prstGeom>
          <a:solidFill>
            <a:srgbClr val="16395F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4754880"/>
            <a:ext cx="74523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  <a:ea typeface="Malgun Gothic"/>
                <a:cs typeface="Segoe UI"/>
              </a:rPr>
              <a:t>파일럿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