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결론부터: 한국 금융 규제는 2024년을 기점으로 'AI를 막는 규제'에서 '안전하게 쓰게 하는 규제'로 전환. Azure는 그 안전 요건을 제품 기능으로 충족하며 속도를 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장만 보고 가도 핵심을 얻도록 구성. 세부는 뒤에서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규제와 시장이 같은 방향으로 움직이는 드문 시기.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규제를 극복 대상이 아닌 설계 요건으로 재정의.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7개를 기억. 11페이지에서 Azure 기능에 하나씩 연결(콜백).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오픈소스 모델만으로는 Trust 구현 부담이 큼. Azure는 Trust를 기본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보안·거버넌스가 전 구간을 덮는 평면이라는 점이 Trust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거버넌스는 실행되는 통제여야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위협-방어를 1:1로 매핑해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리전·키·네트워크 세 통제 + 망분리 로드맵 계약 요건.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권고적 가이드임을 명확히 고지. 규제는 특정 제품을 지정하지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임직원·개발 생산성이 망분리 1단계와 가장 잘 맞는 빠른 시작점.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사명·수치는 발표 직전 재확인. 메시지 핵심은 패턴.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규제 일정과 실행 일정을 같은 타임라인에.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구체적 다음 미팅(워크숍 일정) 제안으로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-1097280"/>
            <a:ext cx="4754880" cy="4754880"/>
          </a:xfrm>
          <a:prstGeom prst="ellipse">
            <a:avLst/>
          </a:prstGeom>
          <a:solidFill>
            <a:srgbClr val="0E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17175" y="-411480"/>
            <a:ext cx="3383280" cy="3383280"/>
          </a:xfrm>
          <a:prstGeom prst="ellipse">
            <a:avLst/>
          </a:prstGeom>
          <a:solidFill>
            <a:srgbClr val="123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57255" y="228600"/>
            <a:ext cx="2103120" cy="2103120"/>
          </a:xfrm>
          <a:prstGeom prst="ellipse">
            <a:avLst/>
          </a:prstGeom>
          <a:solidFill>
            <a:srgbClr val="164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8FB8DB"/>
                </a:solidFill>
                <a:latin typeface="맑은 고딕"/>
                <a:ea typeface="맑은 고딕"/>
                <a:cs typeface="맑은 고딕"/>
              </a:rPr>
              <a:t>MICROSOFT AZURE AI   ·   FINANCIAL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Azure AI로 실현하는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금융 규제 대응과 AX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22191"/>
            <a:ext cx="2377440" cy="381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FDDEA"/>
                </a:solidFill>
                <a:latin typeface="맑은 고딕"/>
                <a:ea typeface="맑은 고딕"/>
                <a:cs typeface="맑은 고딕"/>
              </a:rPr>
              <a:t>규제를 ‘제약’이 아닌 ‘설계 요건’으로 — Trust by Design, Value at 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892040"/>
            <a:ext cx="3200400" cy="841248"/>
          </a:xfrm>
          <a:prstGeom prst="rect">
            <a:avLst/>
          </a:prstGeom>
          <a:solidFill>
            <a:srgbClr val="0E3555"/>
          </a:solidFill>
          <a:ln w="12700">
            <a:solidFill>
              <a:srgbClr val="29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4892040"/>
            <a:ext cx="82296" cy="84124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50200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Trust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5367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2C4"/>
                </a:solidFill>
                <a:latin typeface="맑은 고딕"/>
                <a:ea typeface="맑은 고딕"/>
                <a:cs typeface="맑은 고딕"/>
              </a:rPr>
              <a:t>규제·통제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892040"/>
            <a:ext cx="3200400" cy="841248"/>
          </a:xfrm>
          <a:prstGeom prst="rect">
            <a:avLst/>
          </a:prstGeom>
          <a:solidFill>
            <a:srgbClr val="0E3555"/>
          </a:solidFill>
          <a:ln w="12700">
            <a:solidFill>
              <a:srgbClr val="29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4892040"/>
            <a:ext cx="82296" cy="841248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50200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Value at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5367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2C4"/>
                </a:solidFill>
                <a:latin typeface="맑은 고딕"/>
                <a:ea typeface="맑은 고딕"/>
                <a:cs typeface="맑은 고딕"/>
              </a:rPr>
              <a:t>90일 내 파일럿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4892040"/>
            <a:ext cx="3200400" cy="841248"/>
          </a:xfrm>
          <a:prstGeom prst="rect">
            <a:avLst/>
          </a:prstGeom>
          <a:solidFill>
            <a:srgbClr val="0E3555"/>
          </a:solidFill>
          <a:ln w="12700">
            <a:solidFill>
              <a:srgbClr val="29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4892040"/>
            <a:ext cx="82296" cy="841248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502005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Korea 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5367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2C4"/>
                </a:solidFill>
                <a:latin typeface="맑은 고딕"/>
                <a:ea typeface="맑은 고딕"/>
                <a:cs typeface="맑은 고딕"/>
              </a:rPr>
              <a:t>데이터 주권 충족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172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C92A8"/>
                </a:solidFill>
                <a:latin typeface="맑은 고딕"/>
                <a:ea typeface="맑은 고딕"/>
                <a:cs typeface="맑은 고딕"/>
              </a:rPr>
              <a:t>한국 금융 고객 대상 발표자료  ·  15장  ·  은행 · 보험 · 증권 · 카드      |      Presented by Microsoft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결론 먼저 · BLUF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규제는 열렸고, 규제는 곧 설계 요건이며, Azure는 그 요건을 아키텍처로 충족한다.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88152"/>
            <a:ext cx="11048695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925312"/>
            <a:ext cx="10058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788152"/>
            <a:ext cx="9448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규제 준수 역량 자체가 경쟁우위 — Trust와 Value를 한 플랫폼에서 동시에 설계한다.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39696"/>
            <a:ext cx="3524402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139696"/>
            <a:ext cx="3524402" cy="8229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2386584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규제가 열렸다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035808"/>
            <a:ext cx="3048914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2024.8 ‘금융분야 망분리 개선 로드맵’ 발표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생성형 AI · 클라우드(SaaS) 단계적 활용 허용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AX의 법적 기반이 마련됨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239512"/>
            <a:ext cx="304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▸ AX 추진의 출발점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2226" y="2139696"/>
            <a:ext cx="3524402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2226" y="2139696"/>
            <a:ext cx="3524402" cy="8229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2538" y="2386584"/>
            <a:ext cx="457200" cy="457200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2538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3474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규제 = 설계 요건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9970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9970" y="3035808"/>
            <a:ext cx="3048914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2025 개정 ‘금융분야 AI 가이드라인’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7대 원칙은 곧 시스템 설계 체크리스트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거버넌스·보안·설명가능성 내장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9970" y="5239512"/>
            <a:ext cx="304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▸ 체크리스트로 활용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4372" y="2139696"/>
            <a:ext cx="3524402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64372" y="2139696"/>
            <a:ext cx="3524402" cy="822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74684" y="2386584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4684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5620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Azure가 충족한다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2116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2116" y="3035808"/>
            <a:ext cx="3048914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Foundry · AI Search · Content Safety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Entra · Purview · Defender + Korea 리전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90일 내 통제된 파일럿 가능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2116" y="5239512"/>
            <a:ext cx="304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▸ 기능으로 1:1 대응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본 장은 전체 결론 요약 — 세부 근거는 4~14장에서 증명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Why Now: 두 개의 동력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환경 변화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‘규제 완화’와 ‘경쟁 심화’가 동시에 도래 — 지금이 실행 적기다.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2583865" cy="9144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12848"/>
            <a:ext cx="258386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10년+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06624"/>
            <a:ext cx="258386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망분리 규제 개선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61689" y="2139696"/>
            <a:ext cx="2583865" cy="9144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1689" y="2212848"/>
            <a:ext cx="258386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2026.1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1689" y="2706624"/>
            <a:ext cx="258386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AI기본법 시행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3299" y="2139696"/>
            <a:ext cx="2583865" cy="9144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3299" y="2212848"/>
            <a:ext cx="258386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4대 그룹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3299" y="2706624"/>
            <a:ext cx="258386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공동 AI 플랫폼 가동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04909" y="2139696"/>
            <a:ext cx="2583865" cy="91440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4909" y="2212848"/>
            <a:ext cx="258386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90일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4909" y="2706624"/>
            <a:ext cx="258386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통제된 파일럿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88152"/>
            <a:ext cx="11048695" cy="566928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925312"/>
            <a:ext cx="10058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92531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시사점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788152"/>
            <a:ext cx="9448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규제와 시장이 같은 방향으로 — ‘검토’에서 ‘통제된 실행’으로 전환할 시점.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255264"/>
            <a:ext cx="5405475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255264"/>
            <a:ext cx="5405475" cy="8229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0392" y="3502152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3502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511296"/>
            <a:ext cx="432648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동력 1 — 규제의 문이 열림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" y="4023360"/>
            <a:ext cx="4929987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151376"/>
            <a:ext cx="4929987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10여 년의 망분리 빗장이 단계적으로 해제 (2024.8 로드맵)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AI기본법 2025.1 제정 → 2026.1 시행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‘AI를 안전하게 쓰는 법’이 제도화됨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3299" y="3255264"/>
            <a:ext cx="5405475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83299" y="3255264"/>
            <a:ext cx="5405475" cy="822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93611" y="3502152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3611" y="3502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4547" y="3511296"/>
            <a:ext cx="432648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동력 2 — 경쟁의 본격화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21043" y="4023360"/>
            <a:ext cx="4929987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1043" y="4151376"/>
            <a:ext cx="4929987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4대 금융그룹, 그룹 공동 생성형 AI 플랫폼 가동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AI 에이전트 · 자체 LLM 도입 확산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후발 격차가 빠르게 벌어지는 국면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규제 허용도와 시장 경쟁 강도가 2024~2026 구간에서 동반 상승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한국 금융 규제 지형: 3개의 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AX 설계 시 반드시 고려할 규제는 ‘망분리 · AI 가이드라인 · AI기본법’ 3축이다.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3524402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3524402" cy="8229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2386584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망분리 개선 로드맵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035808"/>
            <a:ext cx="3048914" cy="247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2024.8 · 금융위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생성형 AI · SaaS 단계적 허용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1단계: 샌드박스 · 가명정보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2단계(2025~): 실명정보 단계적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중장기: 자율보안–결과책임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3017520"/>
            <a:ext cx="3048914" cy="31089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017520"/>
            <a:ext cx="304891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2024.8 · 금융위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2226" y="2139696"/>
            <a:ext cx="3524402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2226" y="2139696"/>
            <a:ext cx="3524402" cy="8229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2538" y="2386584"/>
            <a:ext cx="457200" cy="457200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2538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3474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금융 AI 가이드라인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9970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9970" y="3035808"/>
            <a:ext cx="3048914" cy="247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 개정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금융 AI 7대 원칙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AI 윤리위원회 의무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독립적 위험관리 조직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적용대상: 핀테크 등 확대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9970" y="3017520"/>
            <a:ext cx="3048914" cy="31089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9970" y="3017520"/>
            <a:ext cx="304891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 개정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4372" y="2139696"/>
            <a:ext cx="3524402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64372" y="2139696"/>
            <a:ext cx="3524402" cy="822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74684" y="2386584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4684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5620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AI기본법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02116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2116" y="3035808"/>
            <a:ext cx="3048914" cy="2478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2025.1 제정 · 2026.1 시행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고영향(high-impact) AI 규율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투명성 · 안전성 의무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금융 = 대표적 고영향 영역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선제적 대응 필요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2116" y="3017520"/>
            <a:ext cx="3048914" cy="3108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2116" y="3017520"/>
            <a:ext cx="304891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2025.1 제정 · 2026.1 시행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06440"/>
            <a:ext cx="11048695" cy="548640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11048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불변의 기반: 전자금융감독규정 · 신용정보법 · 개인정보보호법(가명·익명) · 데이터 국외이전 제약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‘규제가 많다’가 아니라 ‘규제가 명확해졌다’ — 명확성은 곧 설계 가능성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금융 AI 7대 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규제 요구사항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7대 원칙은 추상적 윤리가 아니라 구체적 ‘시스템 요건’이다.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2583865" cy="73152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5528" y="2368296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368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39572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거버넌스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98094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경영진 책임 · AI 윤리위 · 전담 위험관리 조직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61689" y="213969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61689" y="2139696"/>
            <a:ext cx="2583865" cy="73152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7137" y="2368296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7137" y="2368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4921" y="239572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합법성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9433" y="298094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관련 법률 준수 · 사전 법적 점검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3299" y="213969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3299" y="2139696"/>
            <a:ext cx="2583865" cy="73152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8747" y="2368296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8747" y="2368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6531" y="239572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보조수단성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1043" y="298094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AI는 보조 · 최종 책임은 사람(HITL)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4909" y="213969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4909" y="2139696"/>
            <a:ext cx="2583865" cy="73152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60357" y="2368296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0357" y="23682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8141" y="239572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신뢰성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2653" y="298094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공정성 · 편향점검 · 설명가능성 · 오류대응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5711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357116"/>
            <a:ext cx="2583865" cy="73152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5528" y="4585716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45857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461314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금융안정성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" y="519836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시스템 · 사이버 리스크 사전 대비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61689" y="435711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61689" y="4357116"/>
            <a:ext cx="2583865" cy="73152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17137" y="4585716"/>
            <a:ext cx="457200" cy="457200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7137" y="45857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4921" y="461314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신의성실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99433" y="519836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소비자 보호 · 고지 · 이해상충 방지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3299" y="4357116"/>
            <a:ext cx="2583865" cy="19979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83299" y="4357116"/>
            <a:ext cx="2583865" cy="73152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38747" y="4585716"/>
            <a:ext cx="457200" cy="457200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38747" y="45857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6531" y="4613148"/>
            <a:ext cx="176090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보안성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1043" y="5198364"/>
            <a:ext cx="2126665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프롬프트 인젝션 · 데이터/모델 유출 방어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04909" y="4357116"/>
            <a:ext cx="2583865" cy="1997964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2653" y="4357116"/>
            <a:ext cx="2126665" cy="1997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11장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각 원칙을 Azure 기능에 1:1로 연결합니다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동일 색상 배지로 11장에서 Azure 서비스와 매핑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AX 실행의 두 축: Trust ×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프레임 전환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지속 가능한 AX는 ‘통제(Trust)’와 ‘가치(Value)’를 동시에 설계할 때만 가능하다.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88152"/>
            <a:ext cx="11048695" cy="566928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925312"/>
            <a:ext cx="10058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차별점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788152"/>
            <a:ext cx="9448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Microsoft 차별점: 모델·앱·에이전트 + 보안·거버넌스가 동일 컨트롤 플레인에 통합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39696"/>
            <a:ext cx="4937760" cy="1623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139696"/>
            <a:ext cx="4937760" cy="8229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2386584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395728"/>
            <a:ext cx="3858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Trust 축 — 규제 대응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2907792"/>
            <a:ext cx="4462272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035808"/>
            <a:ext cx="4462272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거버넌스 · 보안 · 데이터 주권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설명가능성 · 감사추적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→ ‘규제가 요구하는 안전’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82212"/>
            <a:ext cx="4937760" cy="1623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982212"/>
            <a:ext cx="4937760" cy="822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0392" y="4229100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2291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238244"/>
            <a:ext cx="3858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Value 축 — AX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4750308"/>
            <a:ext cx="4462272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878324"/>
            <a:ext cx="4462272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생산성 · 고객경험 · 리스크 고도화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신상품 출시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→ ‘사업이 원하는 성과’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15584" y="2139696"/>
            <a:ext cx="5873191" cy="3465576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55664" y="2551176"/>
            <a:ext cx="4913071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12199" y="2551176"/>
            <a:ext cx="17780" cy="2551176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55664" y="3826764"/>
            <a:ext cx="4913071" cy="1778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15584" y="5239512"/>
            <a:ext cx="58731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Value (가치) →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5833872" y="2551176"/>
            <a:ext cx="365760" cy="2551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Trust (통제)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606040"/>
            <a:ext cx="2346807" cy="1165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정체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7063" y="2606040"/>
            <a:ext cx="2346807" cy="1165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Responsible AX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3881628"/>
            <a:ext cx="2346807" cy="1165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느린 혁신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7063" y="3881628"/>
            <a:ext cx="2346807" cy="1165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B03A2E"/>
                </a:solidFill>
                <a:latin typeface="맑은 고딕"/>
                <a:ea typeface="맑은 고딕"/>
                <a:cs typeface="맑은 고딕"/>
              </a:rPr>
              <a:t>위험한 혁신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0299" y="2589276"/>
            <a:ext cx="2380335" cy="1199388"/>
          </a:xfrm>
          <a:prstGeom prst="rect">
            <a:avLst/>
          </a:prstGeom>
          <a:solidFill>
            <a:srgbClr val="E6F2EA"/>
          </a:solidFill>
          <a:ln w="25400">
            <a:solidFill>
              <a:srgbClr val="13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2199" y="2606040"/>
            <a:ext cx="2383383" cy="1165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Responsible AX</a:t>
            </a:r>
          </a:p>
          <a:p>
            <a:pPr algn="ctr">
              <a:spcBef>
                <a:spcPts val="200"/>
              </a:spcBef>
            </a:pPr>
            <a:r>
              <a:rPr sz="1050" b="0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= Azure 위치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두 축을 분리하면 ‘느린 혁신’ 또는 ‘위험한 혁신’ — Azure는 동시에 충족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Azure AI 레퍼런스 아키텍처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솔루션 전경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규제 요건이 ‘전 구간을 덮는 평면’으로 내장된 단일 참조 아키텍처로 시작하라.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1048695" cy="64008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23317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139696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거버넌스·보안 평면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231136"/>
            <a:ext cx="15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2139696"/>
            <a:ext cx="83512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Microsoft Purview (데이터·AI 거버넌스)   ·   Defender for Cloud (워크로드·AI 보안)   ·   Azure Policy / FSI Landing 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07792"/>
            <a:ext cx="1946391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647080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907792"/>
            <a:ext cx="1946391" cy="73152"/>
          </a:xfrm>
          <a:prstGeom prst="rect">
            <a:avLst/>
          </a:prstGeom>
          <a:solidFill>
            <a:srgbClr val="64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61815" y="3040380"/>
            <a:ext cx="502920" cy="502920"/>
          </a:xfrm>
          <a:prstGeom prst="ellipse">
            <a:avLst/>
          </a:prstGeom>
          <a:solidFill>
            <a:srgbClr val="64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1815" y="30403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21024"/>
            <a:ext cx="1763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채널 / 사용자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611871" y="3662172"/>
            <a:ext cx="278384" cy="274320"/>
          </a:xfrm>
          <a:prstGeom prst="rightArrow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15655" y="2907792"/>
            <a:ext cx="1946391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0B5394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15655" y="2907792"/>
            <a:ext cx="1946391" cy="73152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37391" y="30403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7391" y="30403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7095" y="3621024"/>
            <a:ext cx="1763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Entra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7095" y="4005072"/>
            <a:ext cx="1763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인증 · 최소권한
조건부 접근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887447" y="3662172"/>
            <a:ext cx="278384" cy="274320"/>
          </a:xfrm>
          <a:prstGeom prst="rightArrow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91231" y="2907792"/>
            <a:ext cx="1946391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0B5394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91231" y="2907792"/>
            <a:ext cx="1946391" cy="73152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12967" y="30403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2967" y="30403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2671" y="3621024"/>
            <a:ext cx="1763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AI Gateway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2671" y="4005072"/>
            <a:ext cx="1763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APIM · 토큰/비용
제한 · 라우팅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163023" y="3662172"/>
            <a:ext cx="278384" cy="274320"/>
          </a:xfrm>
          <a:prstGeom prst="rightArrow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66807" y="2907792"/>
            <a:ext cx="1946391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13733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66807" y="2907792"/>
            <a:ext cx="1946391" cy="73152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88543" y="3040380"/>
            <a:ext cx="502920" cy="50292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8543" y="30403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8247" y="3621024"/>
            <a:ext cx="1763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Microsoft Foundry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8247" y="4005072"/>
            <a:ext cx="1763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모델 · 에이전트
평가 · 거버넌스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438599" y="3662172"/>
            <a:ext cx="278384" cy="274320"/>
          </a:xfrm>
          <a:prstGeom prst="rightArrow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42383" y="2907792"/>
            <a:ext cx="1946391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13733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42383" y="2907792"/>
            <a:ext cx="1946391" cy="73152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464119" y="3040380"/>
            <a:ext cx="502920" cy="50292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4119" y="30403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33823" y="3621024"/>
            <a:ext cx="1763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Azure AI 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33823" y="4005072"/>
            <a:ext cx="17635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RAG 그라운딩
(가명·사내지식)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855464"/>
            <a:ext cx="11048695" cy="512064"/>
          </a:xfrm>
          <a:prstGeom prst="rect">
            <a:avLst/>
          </a:prstGeom>
          <a:solidFill>
            <a:srgbClr val="FBF1DC"/>
          </a:solidFill>
          <a:ln w="1778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855464"/>
            <a:ext cx="233172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" y="4855464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안전 계층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4946904"/>
            <a:ext cx="15240" cy="329184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54680" y="4855464"/>
            <a:ext cx="83512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Azure AI Content Safety — Prompt Shields(프롬프트 인젝션 차단) · 유해성 필터 · 그라운딩 검증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477256"/>
            <a:ext cx="11048695" cy="512064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" y="5477256"/>
            <a:ext cx="233172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" y="5477256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계층 · Korea 리전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0" y="5568696"/>
            <a:ext cx="1524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54680" y="5477256"/>
            <a:ext cx="83512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고객관리키(CMK) 암호화 · Private Endpoint(폐쇄망 연계) · Azure Monitor 감사로그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보안·거버넌스는 특정 단계가 아니라 전 구간을 덮는 평면 — Trust by Design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규제 대응 ① 거버넌스 · 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솔루션 상세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‘누가·무엇을·어떻게’ 통제하는지를 문서가 아닌 ‘제품 기능’으로 증명한다.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88152"/>
            <a:ext cx="11048695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925312"/>
            <a:ext cx="10058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788152"/>
            <a:ext cx="9448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거버넌스는 ‘문서’가 아니라 ‘실행되는 통제’여야 감독에 답할 수 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39696"/>
            <a:ext cx="3524402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139696"/>
            <a:ext cx="3524402" cy="8229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2386584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AI·데이터 거버넌스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035808"/>
            <a:ext cx="3048914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Microsoft Purview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AI 시스템·모델 인벤토리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데이터 계보(lineage) 추적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민감정보 분류 · DLP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가명/익명 데이터 식별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239512"/>
            <a:ext cx="304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#거버넌스 #합법성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2226" y="2139696"/>
            <a:ext cx="3524402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2226" y="2139696"/>
            <a:ext cx="3524402" cy="822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2538" y="2386584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2538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3474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ID · 접근통제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9970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9970" y="3035808"/>
            <a:ext cx="3048914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Microsoft Entra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최소권한(RBAC)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조건부 접근 · PIM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에이전트 ID(AI에 신원 부여)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신원 기반 감사추적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9970" y="5239512"/>
            <a:ext cx="304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#보안성 #거버넌스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4372" y="2139696"/>
            <a:ext cx="3524402" cy="3465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64372" y="2139696"/>
            <a:ext cx="3524402" cy="8229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74684" y="2386584"/>
            <a:ext cx="457200" cy="457200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4684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5620" y="2395728"/>
            <a:ext cx="244541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정책 자동화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02116" y="2907792"/>
            <a:ext cx="3048914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2116" y="3035808"/>
            <a:ext cx="3048914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Azure Policy / FSI Landing Zone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규제 가드레일을 코드로 강제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리전 고정 · 암호화 의무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승인된 서비스만 허용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감독당국 보고 근거 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2116" y="5239512"/>
            <a:ext cx="3048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#합법성 #금융안정성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Purview·Policy로 통제를 자동화 — 감독당국 보고 근거 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규제 대응 ② 보안 · 안전성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솔루션 상세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AI 특화 위협(프롬프트 인젝션·환각·유출)에 ‘전용 방어’를 둔다.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1048695" cy="595666"/>
          </a:xfrm>
          <a:prstGeom prst="rect">
            <a:avLst/>
          </a:prstGeom>
          <a:solidFill>
            <a:srgbClr val="0B5394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139696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위협 / 리스크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139696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Azure 방어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139696"/>
            <a:ext cx="2050999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 원칙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35362"/>
            <a:ext cx="11048695" cy="59566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735362"/>
            <a:ext cx="64008" cy="59566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735362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프롬프트 인젝션 · 탈옥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2735362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Content Safety — Prompt Shields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2" y="2877747"/>
            <a:ext cx="1554480" cy="310896"/>
          </a:xfrm>
          <a:prstGeom prst="round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2877747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31028"/>
            <a:ext cx="11048695" cy="595666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331028"/>
            <a:ext cx="64008" cy="59566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331028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유해·부적절 출력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3331028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Content Safety 카테고리 필터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2912" y="3473413"/>
            <a:ext cx="1554480" cy="310896"/>
          </a:xfrm>
          <a:prstGeom prst="round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82912" y="3473413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신의성실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26694"/>
            <a:ext cx="11048695" cy="59566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926694"/>
            <a:ext cx="64008" cy="59566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3926694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환각(부정확 답변)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3926694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Azure AI Search — RAG 그라운딩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4069079"/>
            <a:ext cx="1554480" cy="310896"/>
          </a:xfrm>
          <a:prstGeom prst="round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82912" y="4069079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522361"/>
            <a:ext cx="11048695" cy="595666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522361"/>
            <a:ext cx="64008" cy="59566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4522361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데이터 · 모델 유출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4522361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Defender for Cloud + Entra + Purview DLP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82912" y="4664746"/>
            <a:ext cx="1554480" cy="31089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912" y="4664746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118027"/>
            <a:ext cx="11048695" cy="59566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118027"/>
            <a:ext cx="64008" cy="595666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5118027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시스템·사이버 리스크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6" y="5118027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Defender for Cloud · Azure Monitor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82912" y="5260412"/>
            <a:ext cx="1554480" cy="31089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82912" y="5260412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금융안정성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713693"/>
            <a:ext cx="11048695" cy="595666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5713693"/>
            <a:ext cx="64008" cy="59566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5713693"/>
            <a:ext cx="325526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공정성·편향 미검증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4256" y="5713693"/>
            <a:ext cx="4992624" cy="5956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Foundry Evaluation · Red Teaming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82912" y="5856078"/>
            <a:ext cx="1554480" cy="310896"/>
          </a:xfrm>
          <a:prstGeom prst="round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82912" y="5856078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전통 보안 + ‘AI 전용 보안’ — 가이드라인이 명시한 프롬프트 인젝션 대응이 대표 사례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규제 대응 ③ 데이터 주권 · 컴플라이언스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솔루션 상세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데이터는 한국 안에, 키는 고객 손에, 통제는 증명 가능하게.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7040880" cy="4169664"/>
          </a:xfrm>
          <a:prstGeom prst="rect">
            <a:avLst/>
          </a:prstGeom>
          <a:solidFill>
            <a:srgbClr val="E7EFF7"/>
          </a:solidFill>
          <a:ln w="254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295144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951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2304288"/>
            <a:ext cx="6126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Azure Korea Central 리전 경계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89504"/>
            <a:ext cx="6528816" cy="95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2" y="3157728"/>
            <a:ext cx="420624" cy="42062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31577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999232"/>
            <a:ext cx="5760720" cy="737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데이터 레지던시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규제 데이터의 국내 저장·처리 — 데이터 주권 충족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974592"/>
            <a:ext cx="6528816" cy="95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2" y="4242816"/>
            <a:ext cx="420624" cy="42062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424281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084320"/>
            <a:ext cx="5760720" cy="737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암호화 · 키 관리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저장/전송 암호화 · 고객관리키(CMK) · Key Vault/HSM — 키 통제권 고객 보유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5059680"/>
            <a:ext cx="6528816" cy="957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327904"/>
            <a:ext cx="420624" cy="420624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3279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169408"/>
            <a:ext cx="5760720" cy="737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네트워크 격리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Private Endpoint · VNet 통합 — 폐쇄망/망분리 환경 연계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18704" y="2139696"/>
            <a:ext cx="3770071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18704" y="2139696"/>
            <a:ext cx="3770071" cy="82296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29016" y="2386584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9016" y="2386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2395728"/>
            <a:ext cx="2691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컴플라이언스 자산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6448" y="2907792"/>
            <a:ext cx="3294583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3035808"/>
            <a:ext cx="3294583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FSI Landing Zone (참조 구현)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Azure Policy 통제 세트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Compliance Manager · 감사로그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K-FSI 점검·감사 대응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0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계약·감독 협력: 해외 CSP는 국내 법령·감독당국 검사 협력 조항 반영 → MS 금융 규정준수 프레임으로 대응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데이터 국외이전 우려의 답 = ‘리전 · 키 · 네트워크’ 세 가지 통제 + 계약 요건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금융 AI 7대 원칙 ↔ Azure 매핑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종합 증명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7대 원칙 하나하나가 Azure 기능으로 충족된다 — 추상이 아닌 1:1 증명.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11048695" cy="525780"/>
          </a:xfrm>
          <a:prstGeom prst="rect">
            <a:avLst/>
          </a:prstGeom>
          <a:solidFill>
            <a:srgbClr val="1A1C20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103120"/>
            <a:ext cx="212140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210312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규제 요구 (요지)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210312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Azure / Microsoft 매핑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28900"/>
            <a:ext cx="11048695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628900"/>
            <a:ext cx="2377440" cy="525780"/>
          </a:xfrm>
          <a:prstGeom prst="rect">
            <a:avLst/>
          </a:prstGeom>
          <a:solidFill>
            <a:srgbClr val="0B539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" y="269976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269976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262890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거버넌스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262890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경영진 책임·전담조직·내부통제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262890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Purview · Foundry 거버넌스 · Azure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154680"/>
            <a:ext cx="11048695" cy="52578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154680"/>
            <a:ext cx="2377440" cy="525780"/>
          </a:xfrm>
          <a:prstGeom prst="rect">
            <a:avLst/>
          </a:prstGeom>
          <a:solidFill>
            <a:srgbClr val="0B539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2104" y="322554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322554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315468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합법성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3824" y="315468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법률 준수·사전 점검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315468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Compliance Manager · 감사로그 · FSI LZ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80460"/>
            <a:ext cx="11048695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680460"/>
            <a:ext cx="2377440" cy="525780"/>
          </a:xfrm>
          <a:prstGeom prst="rect">
            <a:avLst/>
          </a:prstGeom>
          <a:solidFill>
            <a:srgbClr val="1373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2104" y="375132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" y="375132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368046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보조수단성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3824" y="368046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사람 최종 책임(HITL)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4304" y="368046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Foundry 에이전트 승인단계 · Copilot Studio HITL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206240"/>
            <a:ext cx="11048695" cy="52578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206240"/>
            <a:ext cx="2377440" cy="525780"/>
          </a:xfrm>
          <a:prstGeom prst="rect">
            <a:avLst/>
          </a:prstGeom>
          <a:solidFill>
            <a:srgbClr val="1373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2104" y="427710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" y="427710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" y="420624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63824" y="420624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공정성·설명가능성·오류대응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4304" y="420624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Foundry Evaluation/Red Team · RAG 그라운딩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732020"/>
            <a:ext cx="11048695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4732020"/>
            <a:ext cx="2377440" cy="525780"/>
          </a:xfrm>
          <a:prstGeom prst="rect">
            <a:avLst/>
          </a:prstGeom>
          <a:solidFill>
            <a:srgbClr val="0B539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2104" y="480288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" y="480288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2" y="473202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금융안정성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63824" y="473202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시스템·사이버 리스크 대비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4304" y="473202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Defender for Cloud · Monitor · AI Gateway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257800"/>
            <a:ext cx="11048695" cy="525780"/>
          </a:xfrm>
          <a:prstGeom prst="rect">
            <a:avLst/>
          </a:prstGeom>
          <a:solidFill>
            <a:srgbClr val="F2F5F9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5257800"/>
            <a:ext cx="2377440" cy="525780"/>
          </a:xfrm>
          <a:prstGeom prst="rect">
            <a:avLst/>
          </a:prstGeom>
          <a:solidFill>
            <a:srgbClr val="C97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2104" y="532866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" y="532866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53312" y="525780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신의성실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63824" y="525780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소비자 보호·고지·이해상충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04304" y="525780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Content Safety · RAG 근거제시 · 감사추적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783580"/>
            <a:ext cx="11048695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5783580"/>
            <a:ext cx="2377440" cy="525780"/>
          </a:xfrm>
          <a:prstGeom prst="rect">
            <a:avLst/>
          </a:prstGeom>
          <a:solidFill>
            <a:srgbClr val="C97A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04" y="585444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" y="585444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53312" y="5783580"/>
            <a:ext cx="157276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63824" y="5783580"/>
            <a:ext cx="3584448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프롬프트 인젝션·유출 방어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304" y="5783580"/>
            <a:ext cx="4574743" cy="525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Content Safety · Entra(PIM) · Purview DLP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※ 본 매핑은 원칙 충족을 돕는 권고적 ‘설계 가이드’이며, 규제기관의 공식 제품 지정이 아님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AX 유스케이스: 5대 가치 영역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가치 실현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동일 플랫폼 위에서 5개 영역의 가치를 ‘난이도·리스크 순’으로 단계 실현한다.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10486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100584" cy="73152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2276856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276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139696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임직원 생산성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2139696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약관·규정 Q&amp;A · 문서요약 · 보고서 초안 · 콜센터 후처리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48495" y="2340864"/>
            <a:ext cx="2103120" cy="329184"/>
          </a:xfrm>
          <a:prstGeom prst="round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8495" y="2340864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빠른 시작 · 1단계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99232"/>
            <a:ext cx="110486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999232"/>
            <a:ext cx="100584" cy="73152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3136392"/>
            <a:ext cx="457200" cy="4572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1363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2999232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개발 생산성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19" y="2999232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GitHub Copilot 개발·현대화 가속 · 레거시 분석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48495" y="3200400"/>
            <a:ext cx="2103120" cy="329184"/>
          </a:xfrm>
          <a:prstGeom prst="round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8495" y="3200400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빠른 시작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58768"/>
            <a:ext cx="110486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858768"/>
            <a:ext cx="100584" cy="7315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3995928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995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858768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리스크·컴플라이언스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9" y="3858768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FDS 보조 · AML/KYC 문서점검 · 규제변경 모니터링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48495" y="4059936"/>
            <a:ext cx="2103120" cy="329184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48495" y="4059936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내부통제 강화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718304"/>
            <a:ext cx="110486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718304"/>
            <a:ext cx="100584" cy="73152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68680" y="4855464"/>
            <a:ext cx="457200" cy="457200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8554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4718304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심사·언더라이팅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19" y="4718304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여신 심사 보조 · 보험 룰 자동화 · 신용평가 근거 설명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48495" y="4919472"/>
            <a:ext cx="2103120" cy="329184"/>
          </a:xfrm>
          <a:prstGeom prst="round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8495" y="4919472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처리속도·일관성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577840"/>
            <a:ext cx="110486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" y="5577840"/>
            <a:ext cx="100584" cy="7315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8680" y="5715000"/>
            <a:ext cx="457200" cy="457200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715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1328" y="5577840"/>
            <a:ext cx="2834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고객 접점(CX)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19" y="5577840"/>
            <a:ext cx="5212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상담 코파일럿 · AI 뱅커/챗봇 · 초개인화 추천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8495" y="5779008"/>
            <a:ext cx="2103120" cy="329184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8495" y="5779008"/>
            <a:ext cx="2103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확장 · 2단계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①②(가명·내부 데이터)는 망분리 1단계 최적 시작점, ④⑤는 2단계 확장 영역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국내 금융권 도입 동향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레퍼런스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선도 금융그룹은 이미 ‘플랫폼 · 에이전트’ 단계로 진입했다 (2025 공개 보도 기준).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88152"/>
            <a:ext cx="11048695" cy="566928"/>
          </a:xfrm>
          <a:prstGeom prst="rect">
            <a:avLst/>
          </a:prstGeom>
          <a:solidFill>
            <a:srgbClr val="1A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925312"/>
            <a:ext cx="10058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2531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788152"/>
            <a:ext cx="94484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패턴: 플랫폼화 → 에이전트화 → 자체 LLM   ·   경쟁은 ‘거버넌스를 갖춘 확산 속도’로 이동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39696"/>
            <a:ext cx="5405475" cy="16413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139696"/>
            <a:ext cx="91440" cy="164134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2359152"/>
            <a:ext cx="475488" cy="47548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23591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359152"/>
            <a:ext cx="43996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그룹 공동 AI 플랫폼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80944"/>
            <a:ext cx="4856835" cy="726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계열사 공동 ‘에이전틱 AI 기반 생성형 AI 플랫폼’ — 상담·자산관리·보험상담 등 업무별 에이전트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3299" y="2139696"/>
            <a:ext cx="5405475" cy="16413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3299" y="2139696"/>
            <a:ext cx="91440" cy="1641348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02755" y="2359152"/>
            <a:ext cx="475488" cy="475488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2755" y="23591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4547" y="2359152"/>
            <a:ext cx="43996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무인·AI 점포 + 업무비서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5907" y="2980944"/>
            <a:ext cx="4856835" cy="726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AI 디지털 데스크/무인점포 · 임직원용 AI 업무비서로 창구·내부 자동화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63924"/>
            <a:ext cx="5405475" cy="16413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963924"/>
            <a:ext cx="91440" cy="1641348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9536" y="4183380"/>
            <a:ext cx="475488" cy="475488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41833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183380"/>
            <a:ext cx="43996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자체 특화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805172"/>
            <a:ext cx="4856835" cy="726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기업금융 심사 · 정책자금 추천 · 해외송금 예측 등 버티컬 업무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3299" y="3963924"/>
            <a:ext cx="5405475" cy="16413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83299" y="3963924"/>
            <a:ext cx="91440" cy="1641348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02755" y="4183380"/>
            <a:ext cx="475488" cy="475488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2755" y="41833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4547" y="4183380"/>
            <a:ext cx="439963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계열 확산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5907" y="4805172"/>
            <a:ext cx="4856835" cy="726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증권(리포트 요약·투자분석) · 보험(언더라이팅 자동화)으로 확대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구체 사명·수치·출시일은 발표 직전 보도자료로 재확인 — 핵심은 ‘패턴’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109728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"/>
            <a:ext cx="8412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단계별 실행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9895" y="402336"/>
            <a:ext cx="2468880" cy="384048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19895" y="4023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실행 계획</a:t>
            </a:r>
          </a:p>
        </p:txBody>
      </p:sp>
      <p:sp>
        <p:nvSpPr>
          <p:cNvPr id="7" name="Oval 6"/>
          <p:cNvSpPr/>
          <p:nvPr/>
        </p:nvSpPr>
        <p:spPr>
          <a:xfrm>
            <a:off x="11304727" y="402336"/>
            <a:ext cx="384048" cy="384048"/>
          </a:xfrm>
          <a:prstGeom prst="ellipse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04727" y="402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969264"/>
            <a:ext cx="11048695" cy="2794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992124"/>
            <a:ext cx="11048695" cy="1016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152144"/>
            <a:ext cx="11048695" cy="749808"/>
          </a:xfrm>
          <a:prstGeom prst="rect">
            <a:avLst/>
          </a:prstGeom>
          <a:solidFill>
            <a:srgbClr val="E7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52144"/>
            <a:ext cx="100584" cy="74980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325880"/>
            <a:ext cx="768096" cy="402336"/>
          </a:xfrm>
          <a:prstGeom prst="round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325880"/>
            <a:ext cx="7680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152144"/>
            <a:ext cx="963137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망분리 1·2단계 일정에 맞춰 ‘준비 → 파일럿 → 확장 → 정착’ 4단계로 실행한다.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1048695" cy="457200"/>
          </a:xfrm>
          <a:prstGeom prst="rect">
            <a:avLst/>
          </a:prstGeom>
          <a:solidFill>
            <a:srgbClr val="E7EFF7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55243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◀ 망분리 1단계 (가명 · 샌드박스)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4427" y="2139696"/>
            <a:ext cx="17780" cy="4572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4427" y="2139696"/>
            <a:ext cx="55243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망분리 2단계 (실명정보 단계적) 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2542717" cy="3566160"/>
          </a:xfrm>
          <a:prstGeom prst="rect">
            <a:avLst/>
          </a:prstGeom>
          <a:solidFill>
            <a:srgbClr val="FFFFFF"/>
          </a:solidFill>
          <a:ln w="22860">
            <a:solidFill>
              <a:srgbClr val="647080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743200"/>
            <a:ext cx="2542717" cy="713232"/>
          </a:xfrm>
          <a:prstGeom prst="rect">
            <a:avLst/>
          </a:prstGeom>
          <a:solidFill>
            <a:srgbClr val="64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" y="28712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28712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834640"/>
            <a:ext cx="171975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0 · 준비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0–1개월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621024"/>
            <a:ext cx="221353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AI 윤리위·위험관리 조직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FSI Landing Zone 구축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데이터 가명화 체계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거버넌스 정책 정의</a:t>
            </a:r>
          </a:p>
        </p:txBody>
      </p:sp>
      <p:sp>
        <p:nvSpPr>
          <p:cNvPr id="26" name="Chevron 25"/>
          <p:cNvSpPr/>
          <p:nvPr/>
        </p:nvSpPr>
        <p:spPr>
          <a:xfrm>
            <a:off x="3195497" y="4398264"/>
            <a:ext cx="267208" cy="256032"/>
          </a:xfrm>
          <a:prstGeom prst="chevron">
            <a:avLst/>
          </a:prstGeom>
          <a:solidFill>
            <a:srgbClr val="647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5405" y="2743200"/>
            <a:ext cx="2542717" cy="3566160"/>
          </a:xfrm>
          <a:prstGeom prst="rect">
            <a:avLst/>
          </a:prstGeom>
          <a:solidFill>
            <a:srgbClr val="FFFFFF"/>
          </a:solidFill>
          <a:ln w="22860">
            <a:solidFill>
              <a:srgbClr val="137333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5405" y="2743200"/>
            <a:ext cx="2542717" cy="713232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67429" y="28712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7429" y="28712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3733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925" y="2834640"/>
            <a:ext cx="171975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1 · 파일럿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1–3개월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8285" y="3621024"/>
            <a:ext cx="221353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가명·내부 데이터 활용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임직원 생산성·심사 보조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혁신금융 샌드박스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Evaluation·Content Safety</a:t>
            </a:r>
          </a:p>
        </p:txBody>
      </p:sp>
      <p:sp>
        <p:nvSpPr>
          <p:cNvPr id="33" name="Chevron 32"/>
          <p:cNvSpPr/>
          <p:nvPr/>
        </p:nvSpPr>
        <p:spPr>
          <a:xfrm>
            <a:off x="6030823" y="4398264"/>
            <a:ext cx="267208" cy="256032"/>
          </a:xfrm>
          <a:prstGeom prst="chevron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10731" y="2743200"/>
            <a:ext cx="2542717" cy="3566160"/>
          </a:xfrm>
          <a:prstGeom prst="rect">
            <a:avLst/>
          </a:prstGeom>
          <a:solidFill>
            <a:srgbClr val="FFFFFF"/>
          </a:solidFill>
          <a:ln w="22860">
            <a:solidFill>
              <a:srgbClr val="C97A00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731" y="2743200"/>
            <a:ext cx="2542717" cy="713232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02755" y="28712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2755" y="28712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2251" y="2834640"/>
            <a:ext cx="171975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2 · 확장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3–9개월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3611" y="3621024"/>
            <a:ext cx="221353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대고객 서비스 확장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실명정보 단계적 처리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다중 에이전트·RAG 고도화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모니터링 강화</a:t>
            </a:r>
          </a:p>
        </p:txBody>
      </p:sp>
      <p:sp>
        <p:nvSpPr>
          <p:cNvPr id="40" name="Chevron 39"/>
          <p:cNvSpPr/>
          <p:nvPr/>
        </p:nvSpPr>
        <p:spPr>
          <a:xfrm>
            <a:off x="8866149" y="4398264"/>
            <a:ext cx="267208" cy="256032"/>
          </a:xfrm>
          <a:prstGeom prst="chevron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6057" y="2743200"/>
            <a:ext cx="2542717" cy="3566160"/>
          </a:xfrm>
          <a:prstGeom prst="rect">
            <a:avLst/>
          </a:prstGeom>
          <a:solidFill>
            <a:srgbClr val="FFFFFF"/>
          </a:solidFill>
          <a:ln w="22860">
            <a:solidFill>
              <a:srgbClr val="0B5394"/>
            </a:solidFill>
          </a:ln>
          <a:effectLst/>
          <a:effectLst>
            <a:outerShdw blurRad="55000" dist="25000" dir="5400000" rotWithShape="0">
              <a:srgbClr val="9AA6B2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6057" y="2743200"/>
            <a:ext cx="2542717" cy="713232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38081" y="28712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38081" y="28712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5394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7577" y="2834640"/>
            <a:ext cx="171975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3 · 정착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9개월~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8937" y="3621024"/>
            <a:ext cx="221353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자율보안–결과책임 체계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전사 거버넌스 자동화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비용·품질 상시 최적화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1A1C20"/>
                </a:solidFill>
                <a:latin typeface="맑은 고딕"/>
                <a:ea typeface="맑은 고딕"/>
                <a:cs typeface="맑은 고딕"/>
              </a:rPr>
              <a:t>•  확산·내재화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규제 일정과 실행 일정을 ‘같은 타임라인’에 — 규제를 따라가지 않고 규제와 함께 설계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4215" y="64739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647080"/>
                </a:solidFill>
                <a:latin typeface="맑은 고딕"/>
                <a:ea typeface="맑은 고딕"/>
                <a:cs typeface="맑은 고딕"/>
              </a:rPr>
              <a:t>Microsoft Azure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502920"/>
            <a:ext cx="128016" cy="54864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45720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제언 &amp; Next Steps</a:t>
            </a:r>
          </a:p>
        </p:txBody>
      </p:sp>
      <p:sp>
        <p:nvSpPr>
          <p:cNvPr id="6" name="Oval 5"/>
          <p:cNvSpPr/>
          <p:nvPr/>
        </p:nvSpPr>
        <p:spPr>
          <a:xfrm>
            <a:off x="11213287" y="530352"/>
            <a:ext cx="402336" cy="402336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13287" y="5303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98448"/>
            <a:ext cx="10469880" cy="676656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298448"/>
            <a:ext cx="109728" cy="676656"/>
          </a:xfrm>
          <a:prstGeom prst="rect">
            <a:avLst/>
          </a:prstGeom>
          <a:solidFill>
            <a:srgbClr val="8A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298448"/>
            <a:ext cx="100584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200"/>
                </a:solidFill>
                <a:latin typeface="맑은 고딕"/>
                <a:ea typeface="맑은 고딕"/>
                <a:cs typeface="맑은 고딕"/>
              </a:rPr>
              <a:t>90일 안에 ‘통제된 파일럿’으로 시작하자.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3가지 제언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43200"/>
            <a:ext cx="5120640" cy="1078992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2416" y="3044952"/>
            <a:ext cx="475488" cy="475488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04495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71216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가장 빠른 가치 + 가장 낮은 리스크 = ‘임직원 생산성·심사 보조’ 파일럿부터 (가명·내부 데이터)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968496"/>
            <a:ext cx="5120640" cy="1078992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6" y="4270248"/>
            <a:ext cx="475488" cy="475488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2702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96512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Trust를 1일차에 설계 — Landing Zone·Purview·Entra·Content Safety를 파일럿에 기본 포함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193792"/>
            <a:ext cx="5120640" cy="1078992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5495544"/>
            <a:ext cx="475488" cy="475488"/>
          </a:xfrm>
          <a:prstGeom prst="ellipse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549554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21808"/>
            <a:ext cx="4160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규제 일정과 실행 로드맵을 단일 거버넌스 보드에서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FC28E"/>
                </a:solidFill>
                <a:latin typeface="맑은 고딕"/>
                <a:ea typeface="맑은 고딕"/>
                <a:cs typeface="맑은 고딕"/>
              </a:rPr>
              <a:t>Next Steps · 90일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743200"/>
            <a:ext cx="4983480" cy="603504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28816" y="2834640"/>
            <a:ext cx="420624" cy="420624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8346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2743200"/>
            <a:ext cx="4069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AX 우선순위 워크숍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456432"/>
            <a:ext cx="4983480" cy="603504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28816" y="3547872"/>
            <a:ext cx="420624" cy="420624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354787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456432"/>
            <a:ext cx="4069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규제 매핑 점검 (7대 원칙 갭 분석)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169664"/>
            <a:ext cx="4983480" cy="603504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28816" y="4261104"/>
            <a:ext cx="420624" cy="420624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42611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4169664"/>
            <a:ext cx="4069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FSI Landing Zone PoC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882896"/>
            <a:ext cx="4983480" cy="603504"/>
          </a:xfrm>
          <a:prstGeom prst="rect">
            <a:avLst/>
          </a:prstGeom>
          <a:solidFill>
            <a:srgbClr val="0E3555"/>
          </a:solidFill>
          <a:ln w="12700">
            <a:solidFill>
              <a:srgbClr val="2A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28816" y="4974336"/>
            <a:ext cx="420624" cy="420624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49743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882896"/>
            <a:ext cx="4069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1개 유스케이스 파일럿 착수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632704"/>
            <a:ext cx="4983480" cy="512064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632704"/>
            <a:ext cx="4983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A1200"/>
                </a:solidFill>
                <a:latin typeface="맑은 고딕"/>
                <a:ea typeface="맑은 고딕"/>
                <a:cs typeface="맑은 고딕"/>
              </a:rPr>
              <a:t>함께: Microsoft + 파트너 금융 레퍼런스·규제 매핑 지원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63276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9FB2C4"/>
                </a:solidFill>
                <a:latin typeface="맑은 고딕"/>
                <a:ea typeface="맑은 고딕"/>
                <a:cs typeface="맑은 고딕"/>
              </a:rPr>
              <a:t>Trust by Design · Value at Speed  — 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